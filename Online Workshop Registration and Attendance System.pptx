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74" r:id="rId5"/>
    <p:sldId id="259" r:id="rId6"/>
    <p:sldId id="260" r:id="rId7"/>
    <p:sldId id="265" r:id="rId8"/>
    <p:sldId id="271" r:id="rId9"/>
    <p:sldId id="261" r:id="rId10"/>
    <p:sldId id="262" r:id="rId11"/>
    <p:sldId id="264" r:id="rId12"/>
    <p:sldId id="275" r:id="rId13"/>
    <p:sldId id="276" r:id="rId14"/>
    <p:sldId id="277" r:id="rId15"/>
    <p:sldId id="278" r:id="rId16"/>
    <p:sldId id="279" r:id="rId17"/>
    <p:sldId id="280" r:id="rId18"/>
    <p:sldId id="269" r:id="rId19"/>
    <p:sldId id="272" r:id="rId20"/>
    <p:sldId id="273" r:id="rId21"/>
    <p:sldId id="263"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4" d="100"/>
          <a:sy n="74" d="100"/>
        </p:scale>
        <p:origin x="1714"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10448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1977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492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03637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822737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59607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BCAD085-E8A6-8845-BD4E-CB4CCA059FC4}" type="datetimeFigureOut">
              <a:rPr lang="en-US" smtClean="0"/>
              <a:t>12/17/2025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831455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5BCAD085-E8A6-8845-BD4E-CB4CCA059FC4}" type="datetimeFigureOut">
              <a:rPr lang="en-US" smtClean="0"/>
              <a:t>12/17/2025</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2299442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58193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143465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871268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5BCAD085-E8A6-8845-BD4E-CB4CCA059FC4}" type="datetimeFigureOut">
              <a:rPr lang="en-US" smtClean="0"/>
              <a:t>12/17/2025</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C1FF6DA9-008F-8B48-92A6-B652298478BF}"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62128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84122" y="993059"/>
            <a:ext cx="7772400" cy="2435942"/>
          </a:xfrm>
        </p:spPr>
        <p:txBody>
          <a:bodyPr>
            <a:noAutofit/>
          </a:bodyPr>
          <a:lstStyle/>
          <a:p>
            <a:pPr algn="ctr"/>
            <a:r>
              <a:rPr lang="en-IN" sz="3200" b="1" dirty="0">
                <a:latin typeface="Times New Roman" panose="02020603050405020304" pitchFamily="18" charset="0"/>
                <a:cs typeface="Times New Roman" panose="02020603050405020304" pitchFamily="18" charset="0"/>
              </a:rPr>
              <a:t>K.RAMAKRISHNAN COLLEGE OF TECHNOLOGY</a:t>
            </a: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r>
              <a:rPr sz="3200" b="1" dirty="0">
                <a:latin typeface="Times New Roman" panose="02020603050405020304" pitchFamily="18" charset="0"/>
                <a:cs typeface="Times New Roman" panose="02020603050405020304" pitchFamily="18" charset="0"/>
              </a:rPr>
              <a:t>O</a:t>
            </a:r>
            <a:r>
              <a:rPr lang="en-IN" sz="3200" b="1" dirty="0">
                <a:latin typeface="Times New Roman" panose="02020603050405020304" pitchFamily="18" charset="0"/>
                <a:cs typeface="Times New Roman" panose="02020603050405020304" pitchFamily="18" charset="0"/>
              </a:rPr>
              <a:t>NLINE</a:t>
            </a:r>
            <a:r>
              <a:rPr sz="3200" b="1" dirty="0">
                <a:latin typeface="Times New Roman" panose="02020603050405020304" pitchFamily="18" charset="0"/>
                <a:cs typeface="Times New Roman" panose="02020603050405020304" pitchFamily="18" charset="0"/>
              </a:rPr>
              <a:t> W</a:t>
            </a:r>
            <a:r>
              <a:rPr lang="en-IN" sz="3200" b="1" dirty="0">
                <a:latin typeface="Times New Roman" panose="02020603050405020304" pitchFamily="18" charset="0"/>
                <a:cs typeface="Times New Roman" panose="02020603050405020304" pitchFamily="18" charset="0"/>
              </a:rPr>
              <a:t>ORKSHOP</a:t>
            </a:r>
            <a:r>
              <a:rPr sz="3200" b="1" dirty="0">
                <a:latin typeface="Times New Roman" panose="02020603050405020304" pitchFamily="18" charset="0"/>
                <a:cs typeface="Times New Roman" panose="02020603050405020304" pitchFamily="18" charset="0"/>
              </a:rPr>
              <a:t> R</a:t>
            </a:r>
            <a:r>
              <a:rPr lang="en-IN" sz="3200" b="1" dirty="0">
                <a:latin typeface="Times New Roman" panose="02020603050405020304" pitchFamily="18" charset="0"/>
                <a:cs typeface="Times New Roman" panose="02020603050405020304" pitchFamily="18" charset="0"/>
              </a:rPr>
              <a:t>EGISTRATION</a:t>
            </a:r>
            <a:r>
              <a:rPr sz="3200" b="1"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AND</a:t>
            </a:r>
            <a:r>
              <a:rPr sz="3200" b="1" dirty="0">
                <a:latin typeface="Times New Roman" panose="02020603050405020304" pitchFamily="18" charset="0"/>
                <a:cs typeface="Times New Roman" panose="02020603050405020304" pitchFamily="18" charset="0"/>
              </a:rPr>
              <a:t> A</a:t>
            </a:r>
            <a:r>
              <a:rPr lang="en-IN" sz="3200" b="1" dirty="0">
                <a:latin typeface="Times New Roman" panose="02020603050405020304" pitchFamily="18" charset="0"/>
                <a:cs typeface="Times New Roman" panose="02020603050405020304" pitchFamily="18" charset="0"/>
              </a:rPr>
              <a:t>TTENDANCE</a:t>
            </a:r>
            <a:r>
              <a:rPr sz="3200" b="1" dirty="0">
                <a:latin typeface="Times New Roman" panose="02020603050405020304" pitchFamily="18" charset="0"/>
                <a:cs typeface="Times New Roman" panose="02020603050405020304" pitchFamily="18" charset="0"/>
              </a:rPr>
              <a:t> S</a:t>
            </a:r>
            <a:r>
              <a:rPr lang="en-IN" sz="3200" b="1" dirty="0">
                <a:latin typeface="Times New Roman" panose="02020603050405020304" pitchFamily="18" charset="0"/>
                <a:cs typeface="Times New Roman" panose="02020603050405020304" pitchFamily="18" charset="0"/>
              </a:rPr>
              <a:t>YSTEM</a:t>
            </a:r>
            <a:endParaRPr sz="32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189703" y="4414684"/>
            <a:ext cx="8814620" cy="2716263"/>
          </a:xfrm>
        </p:spPr>
        <p:txBody>
          <a:bodyPr>
            <a:noAutofit/>
          </a:bodyPr>
          <a:lstStyle/>
          <a:p>
            <a:pPr algn="l"/>
            <a:r>
              <a:rPr lang="en-IN" sz="2400" b="1" dirty="0">
                <a:solidFill>
                  <a:schemeClr val="tx1"/>
                </a:solidFill>
                <a:latin typeface="Times New Roman" panose="02020603050405020304" pitchFamily="18" charset="0"/>
                <a:cs typeface="Times New Roman" panose="02020603050405020304" pitchFamily="18" charset="0"/>
              </a:rPr>
              <a:t>Presented by:</a:t>
            </a:r>
          </a:p>
          <a:p>
            <a:pPr algn="l"/>
            <a:r>
              <a:rPr lang="en-IN" sz="2400" b="1" dirty="0">
                <a:solidFill>
                  <a:schemeClr val="tx1"/>
                </a:solidFill>
                <a:latin typeface="Times New Roman" panose="02020603050405020304" pitchFamily="18" charset="0"/>
                <a:cs typeface="Times New Roman" panose="02020603050405020304" pitchFamily="18" charset="0"/>
              </a:rPr>
              <a:t>SRIVARSHINI S – 2303811710422159</a:t>
            </a:r>
          </a:p>
          <a:p>
            <a:pPr algn="l"/>
            <a:r>
              <a:rPr lang="en-IN" sz="2400" b="1" dirty="0">
                <a:solidFill>
                  <a:schemeClr val="tx1"/>
                </a:solidFill>
                <a:latin typeface="Times New Roman" panose="02020603050405020304" pitchFamily="18" charset="0"/>
                <a:cs typeface="Times New Roman" panose="02020603050405020304" pitchFamily="18" charset="0"/>
              </a:rPr>
              <a:t>SWATHI V – 2303811710422165</a:t>
            </a:r>
          </a:p>
          <a:p>
            <a:pPr algn="l"/>
            <a:r>
              <a:rPr lang="en-IN" sz="2400" b="1" dirty="0">
                <a:solidFill>
                  <a:schemeClr val="tx1"/>
                </a:solidFill>
                <a:latin typeface="Times New Roman" panose="02020603050405020304" pitchFamily="18" charset="0"/>
                <a:cs typeface="Times New Roman" panose="02020603050405020304" pitchFamily="18" charset="0"/>
              </a:rPr>
              <a:t>YOGESHWARI M - 2303811710422159</a:t>
            </a:r>
            <a:endParaRPr sz="2400" b="1"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4204449-3EEC-6268-3998-DB19FD8D07C0}"/>
              </a:ext>
            </a:extLst>
          </p:cNvPr>
          <p:cNvPicPr>
            <a:picLocks noChangeAspect="1"/>
          </p:cNvPicPr>
          <p:nvPr/>
        </p:nvPicPr>
        <p:blipFill>
          <a:blip r:embed="rId2"/>
          <a:stretch>
            <a:fillRect/>
          </a:stretch>
        </p:blipFill>
        <p:spPr>
          <a:xfrm>
            <a:off x="508819" y="437433"/>
            <a:ext cx="769374" cy="741896"/>
          </a:xfrm>
          <a:prstGeom prst="rect">
            <a:avLst/>
          </a:prstGeom>
        </p:spPr>
      </p:pic>
      <p:pic>
        <p:nvPicPr>
          <p:cNvPr id="5" name="Picture 4">
            <a:extLst>
              <a:ext uri="{FF2B5EF4-FFF2-40B4-BE49-F238E27FC236}">
                <a16:creationId xmlns:a16="http://schemas.microsoft.com/office/drawing/2014/main" id="{A269F8A0-04C8-2F1B-AB4A-029F4CF7DF90}"/>
              </a:ext>
            </a:extLst>
          </p:cNvPr>
          <p:cNvPicPr>
            <a:picLocks noChangeAspect="1"/>
          </p:cNvPicPr>
          <p:nvPr/>
        </p:nvPicPr>
        <p:blipFill>
          <a:blip r:embed="rId3"/>
          <a:stretch>
            <a:fillRect/>
          </a:stretch>
        </p:blipFill>
        <p:spPr>
          <a:xfrm>
            <a:off x="7700608" y="437433"/>
            <a:ext cx="802050" cy="74189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000" b="1" dirty="0">
                <a:latin typeface="Times New Roman" panose="02020603050405020304" pitchFamily="18" charset="0"/>
                <a:cs typeface="Times New Roman" panose="02020603050405020304" pitchFamily="18" charset="0"/>
              </a:rPr>
              <a:t>ABSTRACT</a:t>
            </a:r>
            <a:endParaRPr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10000"/>
          </a:bodyPr>
          <a:lstStyle/>
          <a:p>
            <a:pPr algn="just"/>
            <a:r>
              <a:rPr lang="en-US" sz="2800" dirty="0">
                <a:latin typeface="Times New Roman" panose="02020603050405020304" pitchFamily="18" charset="0"/>
                <a:cs typeface="Times New Roman" panose="02020603050405020304" pitchFamily="18" charset="0"/>
              </a:rPr>
              <a:t>The Online Workshop Registration and Attendance System is a web-based platform designed to make workshop management easier and faster. Participants can register online by entering their details and selecting their workshop. Event organizers can view the list of registered students and record their attendance, while admins can monitor total registrations and overall attendance reports. The system uses HTML, CSS, and JavaScript with </a:t>
            </a:r>
            <a:r>
              <a:rPr lang="en-US" sz="2800" dirty="0" err="1">
                <a:latin typeface="Times New Roman" panose="02020603050405020304" pitchFamily="18" charset="0"/>
                <a:cs typeface="Times New Roman" panose="02020603050405020304" pitchFamily="18" charset="0"/>
              </a:rPr>
              <a:t>localStorage</a:t>
            </a:r>
            <a:r>
              <a:rPr lang="en-US" sz="2800" dirty="0">
                <a:latin typeface="Times New Roman" panose="02020603050405020304" pitchFamily="18" charset="0"/>
                <a:cs typeface="Times New Roman" panose="02020603050405020304" pitchFamily="18" charset="0"/>
              </a:rPr>
              <a:t> to store data, making it lightweight and easy to use. This project helps reduce manual work, avoids errors, and provides a smooth and efficient way to manage workshop activities.</a:t>
            </a:r>
            <a:endParaRPr sz="2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C136B9F-1BB3-B75C-7DD2-AAB7DB2E9357}"/>
              </a:ext>
            </a:extLst>
          </p:cNvPr>
          <p:cNvPicPr>
            <a:picLocks noChangeAspect="1"/>
          </p:cNvPicPr>
          <p:nvPr/>
        </p:nvPicPr>
        <p:blipFill>
          <a:blip r:embed="rId2"/>
          <a:stretch>
            <a:fillRect/>
          </a:stretch>
        </p:blipFill>
        <p:spPr>
          <a:xfrm>
            <a:off x="390110" y="178231"/>
            <a:ext cx="774259" cy="737680"/>
          </a:xfrm>
          <a:prstGeom prst="rect">
            <a:avLst/>
          </a:prstGeom>
        </p:spPr>
      </p:pic>
      <p:pic>
        <p:nvPicPr>
          <p:cNvPr id="5" name="Picture 4">
            <a:extLst>
              <a:ext uri="{FF2B5EF4-FFF2-40B4-BE49-F238E27FC236}">
                <a16:creationId xmlns:a16="http://schemas.microsoft.com/office/drawing/2014/main" id="{11B75858-E8D8-75AC-5DEC-8695F5B49397}"/>
              </a:ext>
            </a:extLst>
          </p:cNvPr>
          <p:cNvPicPr>
            <a:picLocks noChangeAspect="1"/>
          </p:cNvPicPr>
          <p:nvPr/>
        </p:nvPicPr>
        <p:blipFill>
          <a:blip r:embed="rId3"/>
          <a:stretch>
            <a:fillRect/>
          </a:stretch>
        </p:blipFill>
        <p:spPr>
          <a:xfrm>
            <a:off x="7797732" y="286604"/>
            <a:ext cx="804742" cy="7376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190532"/>
            <a:ext cx="7543800" cy="1450757"/>
          </a:xfrm>
        </p:spPr>
        <p:txBody>
          <a:bodyPr>
            <a:normAutofit/>
          </a:bodyPr>
          <a:lstStyle/>
          <a:p>
            <a:r>
              <a:rPr lang="en-IN" sz="4000" b="1" dirty="0">
                <a:latin typeface="Times New Roman" panose="02020603050405020304" pitchFamily="18" charset="0"/>
                <a:cs typeface="Times New Roman" panose="02020603050405020304" pitchFamily="18" charset="0"/>
              </a:rPr>
              <a:t>INTRODUCTION</a:t>
            </a:r>
            <a:endParaRPr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06561" y="2028614"/>
            <a:ext cx="7543801" cy="4023360"/>
          </a:xfrm>
        </p:spPr>
        <p:txBody>
          <a:bodyPr/>
          <a:lstStyle/>
          <a:p>
            <a:pPr algn="just">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Workshops play a vital role in skill development, but managing registrations and attendance manually often causes inefficiency. </a:t>
            </a:r>
          </a:p>
          <a:p>
            <a:pPr algn="just">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This project proposes a digital system that streamlines online workshop registration, event creation, and attendance tracking.</a:t>
            </a:r>
          </a:p>
          <a:p>
            <a:pPr algn="just">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This system offers a user-friendly interface for participants, organizers, and admins, ensuring faster processing, accurate data handling, and improved overall workshop management.</a:t>
            </a:r>
          </a:p>
        </p:txBody>
      </p:sp>
      <p:pic>
        <p:nvPicPr>
          <p:cNvPr id="4" name="Picture 3">
            <a:extLst>
              <a:ext uri="{FF2B5EF4-FFF2-40B4-BE49-F238E27FC236}">
                <a16:creationId xmlns:a16="http://schemas.microsoft.com/office/drawing/2014/main" id="{28C696E1-8166-A80C-8907-EC280E245304}"/>
              </a:ext>
            </a:extLst>
          </p:cNvPr>
          <p:cNvPicPr>
            <a:picLocks noChangeAspect="1"/>
          </p:cNvPicPr>
          <p:nvPr/>
        </p:nvPicPr>
        <p:blipFill>
          <a:blip r:embed="rId2"/>
          <a:stretch>
            <a:fillRect/>
          </a:stretch>
        </p:blipFill>
        <p:spPr>
          <a:xfrm>
            <a:off x="232302" y="190532"/>
            <a:ext cx="774259" cy="737680"/>
          </a:xfrm>
          <a:prstGeom prst="rect">
            <a:avLst/>
          </a:prstGeom>
        </p:spPr>
      </p:pic>
      <p:pic>
        <p:nvPicPr>
          <p:cNvPr id="5" name="Picture 4">
            <a:extLst>
              <a:ext uri="{FF2B5EF4-FFF2-40B4-BE49-F238E27FC236}">
                <a16:creationId xmlns:a16="http://schemas.microsoft.com/office/drawing/2014/main" id="{B9773464-E501-ECAA-3EDD-217FD4898818}"/>
              </a:ext>
            </a:extLst>
          </p:cNvPr>
          <p:cNvPicPr>
            <a:picLocks noChangeAspect="1"/>
          </p:cNvPicPr>
          <p:nvPr/>
        </p:nvPicPr>
        <p:blipFill>
          <a:blip r:embed="rId3"/>
          <a:stretch>
            <a:fillRect/>
          </a:stretch>
        </p:blipFill>
        <p:spPr>
          <a:xfrm>
            <a:off x="7964389" y="178231"/>
            <a:ext cx="804742" cy="7376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8C16C-3514-095B-5B78-3061D00B78B8}"/>
              </a:ext>
            </a:extLst>
          </p:cNvPr>
          <p:cNvSpPr txBox="1">
            <a:spLocks/>
          </p:cNvSpPr>
          <p:nvPr/>
        </p:nvSpPr>
        <p:spPr>
          <a:xfrm>
            <a:off x="1127795" y="589065"/>
            <a:ext cx="7543800" cy="14507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4000" b="1" dirty="0">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id="{6769BEDA-AA40-AF34-18A7-8366B645641D}"/>
              </a:ext>
            </a:extLst>
          </p:cNvPr>
          <p:cNvSpPr txBox="1">
            <a:spLocks/>
          </p:cNvSpPr>
          <p:nvPr/>
        </p:nvSpPr>
        <p:spPr>
          <a:xfrm>
            <a:off x="800099" y="1537131"/>
            <a:ext cx="7543801" cy="4023360"/>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r>
              <a:rPr lang="en-US" sz="2600" b="1" dirty="0">
                <a:latin typeface="Times New Roman" panose="02020603050405020304" pitchFamily="18" charset="0"/>
                <a:cs typeface="Times New Roman" panose="02020603050405020304" pitchFamily="18" charset="0"/>
              </a:rPr>
              <a:t>Manual Registration Process:</a:t>
            </a:r>
            <a:r>
              <a:rPr lang="en-US" sz="2600" dirty="0">
                <a:latin typeface="Times New Roman" panose="02020603050405020304" pitchFamily="18" charset="0"/>
                <a:cs typeface="Times New Roman" panose="02020603050405020304" pitchFamily="18" charset="0"/>
              </a:rPr>
              <a:t> Workshop registrations are usually recorded using paper forms or basic spreadsheets, making the process slow, prone to handwriting errors, and difficult to organize.</a:t>
            </a:r>
          </a:p>
          <a:p>
            <a:pPr lvl="0" eaLnBrk="0" fontAlgn="base" hangingPunct="0">
              <a:lnSpc>
                <a:spcPct val="100000"/>
              </a:lnSpc>
              <a:spcBef>
                <a:spcPct val="0"/>
              </a:spcBef>
              <a:spcAft>
                <a:spcPct val="0"/>
              </a:spcAft>
              <a:buSzTx/>
              <a:buFont typeface="Wingdings" panose="05000000000000000000" pitchFamily="2" charset="2"/>
              <a:buChar char="Ø"/>
            </a:pPr>
            <a:r>
              <a:rPr lang="en-US" sz="2600" b="1" dirty="0">
                <a:latin typeface="Times New Roman" panose="02020603050405020304" pitchFamily="18" charset="0"/>
                <a:cs typeface="Times New Roman" panose="02020603050405020304" pitchFamily="18" charset="0"/>
              </a:rPr>
              <a:t>No Centralized Platform:</a:t>
            </a:r>
            <a:r>
              <a:rPr lang="en-US" sz="2600" dirty="0">
                <a:latin typeface="Times New Roman" panose="02020603050405020304" pitchFamily="18" charset="0"/>
                <a:cs typeface="Times New Roman" panose="02020603050405020304" pitchFamily="18" charset="0"/>
              </a:rPr>
              <a:t> Participants, organizers, and admins do not have a unified system, leading to scattered records and difficulty in accessing information when needed.</a:t>
            </a:r>
          </a:p>
          <a:p>
            <a:pPr lvl="0" algn="just" eaLnBrk="0" fontAlgn="base" hangingPunct="0">
              <a:lnSpc>
                <a:spcPct val="100000"/>
              </a:lnSpc>
              <a:spcBef>
                <a:spcPct val="0"/>
              </a:spcBef>
              <a:spcAft>
                <a:spcPct val="0"/>
              </a:spcAft>
              <a:buSzTx/>
              <a:buFont typeface="Wingdings" panose="05000000000000000000" pitchFamily="2" charset="2"/>
              <a:buChar char="Ø"/>
            </a:pPr>
            <a:r>
              <a:rPr lang="en-US" altLang="en-US" sz="2800" b="1" dirty="0">
                <a:solidFill>
                  <a:schemeClr val="tx1"/>
                </a:solidFill>
                <a:latin typeface="Arial" panose="020B0604020202020204" pitchFamily="34" charset="0"/>
              </a:rPr>
              <a:t> </a:t>
            </a:r>
            <a:r>
              <a:rPr lang="en-US" altLang="en-US" sz="2600" b="1" dirty="0">
                <a:solidFill>
                  <a:schemeClr val="tx1"/>
                </a:solidFill>
                <a:latin typeface="Times New Roman" panose="02020603050405020304" pitchFamily="18" charset="0"/>
                <a:cs typeface="Times New Roman" panose="02020603050405020304" pitchFamily="18" charset="0"/>
              </a:rPr>
              <a:t>Inefficient Attendance Tracking:</a:t>
            </a:r>
            <a:r>
              <a:rPr lang="en-US" altLang="en-US" sz="2600" dirty="0">
                <a:solidFill>
                  <a:schemeClr val="tx1"/>
                </a:solidFill>
                <a:latin typeface="Times New Roman" panose="02020603050405020304" pitchFamily="18" charset="0"/>
                <a:cs typeface="Times New Roman" panose="02020603050405020304" pitchFamily="18" charset="0"/>
              </a:rPr>
              <a:t> Attendance is marked manually during workshops, which often results in missing entries, duplication, or incorrect data.</a:t>
            </a:r>
          </a:p>
          <a:p>
            <a:pPr algn="just">
              <a:buFont typeface="Wingdings" panose="05000000000000000000" pitchFamily="2" charset="2"/>
              <a:buChar char="Ø"/>
            </a:pPr>
            <a:endParaRPr lang="en-US" sz="2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2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2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349189E-B768-7B7E-D042-01057DF06A8C}"/>
              </a:ext>
            </a:extLst>
          </p:cNvPr>
          <p:cNvPicPr>
            <a:picLocks noChangeAspect="1"/>
          </p:cNvPicPr>
          <p:nvPr/>
        </p:nvPicPr>
        <p:blipFill>
          <a:blip r:embed="rId2"/>
          <a:stretch>
            <a:fillRect/>
          </a:stretch>
        </p:blipFill>
        <p:spPr>
          <a:xfrm>
            <a:off x="232302" y="190532"/>
            <a:ext cx="774259" cy="737680"/>
          </a:xfrm>
          <a:prstGeom prst="rect">
            <a:avLst/>
          </a:prstGeom>
        </p:spPr>
      </p:pic>
      <p:pic>
        <p:nvPicPr>
          <p:cNvPr id="5" name="Picture 4">
            <a:extLst>
              <a:ext uri="{FF2B5EF4-FFF2-40B4-BE49-F238E27FC236}">
                <a16:creationId xmlns:a16="http://schemas.microsoft.com/office/drawing/2014/main" id="{9692E4AD-EA70-0477-C7C1-237B9C36BADC}"/>
              </a:ext>
            </a:extLst>
          </p:cNvPr>
          <p:cNvPicPr>
            <a:picLocks noChangeAspect="1"/>
          </p:cNvPicPr>
          <p:nvPr/>
        </p:nvPicPr>
        <p:blipFill>
          <a:blip r:embed="rId3"/>
          <a:stretch>
            <a:fillRect/>
          </a:stretch>
        </p:blipFill>
        <p:spPr>
          <a:xfrm>
            <a:off x="7964389" y="178231"/>
            <a:ext cx="804742" cy="737680"/>
          </a:xfrm>
          <a:prstGeom prst="rect">
            <a:avLst/>
          </a:prstGeom>
        </p:spPr>
      </p:pic>
      <p:cxnSp>
        <p:nvCxnSpPr>
          <p:cNvPr id="6" name="Straight Connector 5">
            <a:extLst>
              <a:ext uri="{FF2B5EF4-FFF2-40B4-BE49-F238E27FC236}">
                <a16:creationId xmlns:a16="http://schemas.microsoft.com/office/drawing/2014/main" id="{B08CDB65-A7D1-B570-86CD-B88DCCA89A82}"/>
              </a:ext>
            </a:extLst>
          </p:cNvPr>
          <p:cNvCxnSpPr>
            <a:cxnSpLocks/>
          </p:cNvCxnSpPr>
          <p:nvPr/>
        </p:nvCxnSpPr>
        <p:spPr>
          <a:xfrm>
            <a:off x="1006561" y="1314443"/>
            <a:ext cx="7417308" cy="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32979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7691" y="-82237"/>
            <a:ext cx="7543800" cy="1450757"/>
          </a:xfrm>
        </p:spPr>
        <p:txBody>
          <a:bodyPr>
            <a:normAutofit/>
          </a:bodyPr>
          <a:lstStyle/>
          <a:p>
            <a:r>
              <a:rPr sz="4000" b="1" dirty="0">
                <a:latin typeface="Times New Roman" panose="02020603050405020304" pitchFamily="18" charset="0"/>
                <a:cs typeface="Times New Roman" panose="02020603050405020304" pitchFamily="18" charset="0"/>
              </a:rPr>
              <a:t>P</a:t>
            </a:r>
            <a:r>
              <a:rPr lang="en-IN" sz="4000" b="1" dirty="0">
                <a:latin typeface="Times New Roman" panose="02020603050405020304" pitchFamily="18" charset="0"/>
                <a:cs typeface="Times New Roman" panose="02020603050405020304" pitchFamily="18" charset="0"/>
              </a:rPr>
              <a:t>ROPOSED SYSTEM</a:t>
            </a:r>
            <a:endParaRPr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77239" y="2016422"/>
            <a:ext cx="7543801" cy="4023360"/>
          </a:xfrm>
        </p:spPr>
        <p:txBody>
          <a:bodyPr/>
          <a:lstStyle/>
          <a:p>
            <a:pPr algn="just">
              <a:buFont typeface="Wingdings" panose="05000000000000000000" pitchFamily="2" charset="2"/>
              <a:buChar char="Ø"/>
            </a:pPr>
            <a:r>
              <a:rPr sz="2600" dirty="0">
                <a:latin typeface="Times New Roman" panose="02020603050405020304" pitchFamily="18" charset="0"/>
                <a:cs typeface="Times New Roman" panose="02020603050405020304" pitchFamily="18" charset="0"/>
              </a:rPr>
              <a:t>Online platform for workshop registration.</a:t>
            </a:r>
          </a:p>
          <a:p>
            <a:pPr algn="just">
              <a:buFont typeface="Wingdings" panose="05000000000000000000" pitchFamily="2" charset="2"/>
              <a:buChar char="Ø"/>
            </a:pPr>
            <a:r>
              <a:rPr sz="2600" dirty="0">
                <a:latin typeface="Times New Roman" panose="02020603050405020304" pitchFamily="18" charset="0"/>
                <a:cs typeface="Times New Roman" panose="02020603050405020304" pitchFamily="18" charset="0"/>
              </a:rPr>
              <a:t>Event organizers can create workshops with online meeting links.</a:t>
            </a:r>
          </a:p>
          <a:p>
            <a:pPr algn="just">
              <a:buFont typeface="Wingdings" panose="05000000000000000000" pitchFamily="2" charset="2"/>
              <a:buChar char="Ø"/>
            </a:pPr>
            <a:r>
              <a:rPr sz="2600" dirty="0">
                <a:latin typeface="Times New Roman" panose="02020603050405020304" pitchFamily="18" charset="0"/>
                <a:cs typeface="Times New Roman" panose="02020603050405020304" pitchFamily="18" charset="0"/>
              </a:rPr>
              <a:t>Admin and organizers notified instantly after participant registration.</a:t>
            </a:r>
          </a:p>
          <a:p>
            <a:pPr algn="just">
              <a:buFont typeface="Wingdings" panose="05000000000000000000" pitchFamily="2" charset="2"/>
              <a:buChar char="Ø"/>
            </a:pPr>
            <a:r>
              <a:rPr sz="2600" dirty="0">
                <a:latin typeface="Times New Roman" panose="02020603050405020304" pitchFamily="18" charset="0"/>
                <a:cs typeface="Times New Roman" panose="02020603050405020304" pitchFamily="18" charset="0"/>
              </a:rPr>
              <a:t>Manual but controlled attendance entry.</a:t>
            </a:r>
          </a:p>
          <a:p>
            <a:pPr algn="just">
              <a:buFont typeface="Wingdings" panose="05000000000000000000" pitchFamily="2" charset="2"/>
              <a:buChar char="Ø"/>
            </a:pPr>
            <a:r>
              <a:rPr sz="2600" dirty="0">
                <a:latin typeface="Times New Roman" panose="02020603050405020304" pitchFamily="18" charset="0"/>
                <a:cs typeface="Times New Roman" panose="02020603050405020304" pitchFamily="18" charset="0"/>
              </a:rPr>
              <a:t>Admin dashboard for real-time monitoring</a:t>
            </a:r>
            <a:r>
              <a:rPr dirty="0">
                <a:latin typeface="Times New Roman" panose="02020603050405020304" pitchFamily="18" charset="0"/>
                <a:cs typeface="Times New Roman" panose="02020603050405020304" pitchFamily="18" charset="0"/>
              </a:rPr>
              <a:t>.</a:t>
            </a:r>
          </a:p>
        </p:txBody>
      </p:sp>
      <p:pic>
        <p:nvPicPr>
          <p:cNvPr id="4" name="Picture 3">
            <a:extLst>
              <a:ext uri="{FF2B5EF4-FFF2-40B4-BE49-F238E27FC236}">
                <a16:creationId xmlns:a16="http://schemas.microsoft.com/office/drawing/2014/main" id="{DEC46610-26C9-3FB7-85C5-2E79FBAECEEC}"/>
              </a:ext>
            </a:extLst>
          </p:cNvPr>
          <p:cNvPicPr>
            <a:picLocks noChangeAspect="1"/>
          </p:cNvPicPr>
          <p:nvPr/>
        </p:nvPicPr>
        <p:blipFill>
          <a:blip r:embed="rId2"/>
          <a:stretch>
            <a:fillRect/>
          </a:stretch>
        </p:blipFill>
        <p:spPr>
          <a:xfrm>
            <a:off x="170621" y="274302"/>
            <a:ext cx="774259" cy="737680"/>
          </a:xfrm>
          <a:prstGeom prst="rect">
            <a:avLst/>
          </a:prstGeom>
        </p:spPr>
      </p:pic>
      <p:pic>
        <p:nvPicPr>
          <p:cNvPr id="5" name="Picture 4">
            <a:extLst>
              <a:ext uri="{FF2B5EF4-FFF2-40B4-BE49-F238E27FC236}">
                <a16:creationId xmlns:a16="http://schemas.microsoft.com/office/drawing/2014/main" id="{21936FAA-02F4-7C69-D6C3-BF90950C010F}"/>
              </a:ext>
            </a:extLst>
          </p:cNvPr>
          <p:cNvPicPr>
            <a:picLocks noChangeAspect="1"/>
          </p:cNvPicPr>
          <p:nvPr/>
        </p:nvPicPr>
        <p:blipFill>
          <a:blip r:embed="rId3"/>
          <a:stretch>
            <a:fillRect/>
          </a:stretch>
        </p:blipFill>
        <p:spPr>
          <a:xfrm>
            <a:off x="8199120" y="274302"/>
            <a:ext cx="804742" cy="7376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MODULES</a:t>
            </a:r>
            <a:endParaRPr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26330" y="2369990"/>
            <a:ext cx="7543801" cy="4023360"/>
          </a:xfrm>
        </p:spPr>
        <p:txBody>
          <a:bodyPr>
            <a:noAutofit/>
          </a:bodyPr>
          <a:lstStyle/>
          <a:p>
            <a:pPr marL="0" indent="0">
              <a:buNone/>
            </a:pPr>
            <a:r>
              <a:rPr sz="2400" dirty="0">
                <a:latin typeface="Times New Roman" panose="02020603050405020304" pitchFamily="18" charset="0"/>
                <a:cs typeface="Times New Roman" panose="02020603050405020304" pitchFamily="18" charset="0"/>
              </a:rPr>
              <a:t>1. </a:t>
            </a:r>
            <a:r>
              <a:rPr lang="en-IN" sz="2400" dirty="0">
                <a:latin typeface="Times New Roman" panose="02020603050405020304" pitchFamily="18" charset="0"/>
                <a:cs typeface="Times New Roman" panose="02020603050405020304" pitchFamily="18" charset="0"/>
              </a:rPr>
              <a:t>User Authentication Module</a:t>
            </a:r>
          </a:p>
          <a:p>
            <a:pPr marL="0" indent="0">
              <a:buNone/>
            </a:pPr>
            <a:r>
              <a:rPr sz="2400" dirty="0">
                <a:latin typeface="Times New Roman" panose="02020603050405020304" pitchFamily="18" charset="0"/>
                <a:cs typeface="Times New Roman" panose="02020603050405020304" pitchFamily="18" charset="0"/>
              </a:rPr>
              <a:t>2. </a:t>
            </a:r>
            <a:r>
              <a:rPr lang="en-IN" sz="2400" dirty="0">
                <a:latin typeface="Times New Roman" panose="02020603050405020304" pitchFamily="18" charset="0"/>
                <a:cs typeface="Times New Roman" panose="02020603050405020304" pitchFamily="18" charset="0"/>
              </a:rPr>
              <a:t>Participant Registration Module</a:t>
            </a:r>
          </a:p>
          <a:p>
            <a:pPr marL="0" indent="0">
              <a:buNone/>
            </a:pPr>
            <a:r>
              <a:rPr sz="2400" dirty="0">
                <a:latin typeface="Times New Roman" panose="02020603050405020304" pitchFamily="18" charset="0"/>
                <a:cs typeface="Times New Roman" panose="02020603050405020304" pitchFamily="18" charset="0"/>
              </a:rPr>
              <a:t>3. </a:t>
            </a:r>
            <a:r>
              <a:rPr lang="en-IN" sz="2400" dirty="0">
                <a:latin typeface="Times New Roman" panose="02020603050405020304" pitchFamily="18" charset="0"/>
                <a:cs typeface="Times New Roman" panose="02020603050405020304" pitchFamily="18" charset="0"/>
              </a:rPr>
              <a:t>Event Organizer Module</a:t>
            </a:r>
          </a:p>
          <a:p>
            <a:pPr marL="0" indent="0">
              <a:buNone/>
            </a:pPr>
            <a:r>
              <a:rPr sz="2400" dirty="0">
                <a:latin typeface="Times New Roman" panose="02020603050405020304" pitchFamily="18" charset="0"/>
                <a:cs typeface="Times New Roman" panose="02020603050405020304" pitchFamily="18" charset="0"/>
              </a:rPr>
              <a:t>4. </a:t>
            </a:r>
            <a:r>
              <a:rPr lang="en-IN" sz="2400" dirty="0">
                <a:latin typeface="Times New Roman" panose="02020603050405020304" pitchFamily="18" charset="0"/>
                <a:cs typeface="Times New Roman" panose="02020603050405020304" pitchFamily="18" charset="0"/>
              </a:rPr>
              <a:t>Attendance Management Module</a:t>
            </a:r>
          </a:p>
          <a:p>
            <a:pPr marL="0" indent="0">
              <a:buNone/>
            </a:pPr>
            <a:r>
              <a:rPr lang="en-IN" sz="2400" dirty="0">
                <a:latin typeface="Times New Roman" panose="02020603050405020304" pitchFamily="18" charset="0"/>
                <a:cs typeface="Times New Roman" panose="02020603050405020304" pitchFamily="18" charset="0"/>
              </a:rPr>
              <a:t>5. Admin Dashboard Module</a:t>
            </a:r>
          </a:p>
        </p:txBody>
      </p:sp>
      <p:pic>
        <p:nvPicPr>
          <p:cNvPr id="4" name="Picture 3">
            <a:extLst>
              <a:ext uri="{FF2B5EF4-FFF2-40B4-BE49-F238E27FC236}">
                <a16:creationId xmlns:a16="http://schemas.microsoft.com/office/drawing/2014/main" id="{86689824-8C41-8D31-8815-A9D4D3608C1F}"/>
              </a:ext>
            </a:extLst>
          </p:cNvPr>
          <p:cNvPicPr>
            <a:picLocks noChangeAspect="1"/>
          </p:cNvPicPr>
          <p:nvPr/>
        </p:nvPicPr>
        <p:blipFill>
          <a:blip r:embed="rId2"/>
          <a:stretch>
            <a:fillRect/>
          </a:stretch>
        </p:blipFill>
        <p:spPr>
          <a:xfrm>
            <a:off x="261799" y="286604"/>
            <a:ext cx="774259" cy="737680"/>
          </a:xfrm>
          <a:prstGeom prst="rect">
            <a:avLst/>
          </a:prstGeom>
        </p:spPr>
      </p:pic>
      <p:pic>
        <p:nvPicPr>
          <p:cNvPr id="5" name="Picture 4">
            <a:extLst>
              <a:ext uri="{FF2B5EF4-FFF2-40B4-BE49-F238E27FC236}">
                <a16:creationId xmlns:a16="http://schemas.microsoft.com/office/drawing/2014/main" id="{8954B681-864B-FA96-CD49-2BB170685BB4}"/>
              </a:ext>
            </a:extLst>
          </p:cNvPr>
          <p:cNvPicPr>
            <a:picLocks noChangeAspect="1"/>
          </p:cNvPicPr>
          <p:nvPr/>
        </p:nvPicPr>
        <p:blipFill>
          <a:blip r:embed="rId3"/>
          <a:stretch>
            <a:fillRect/>
          </a:stretch>
        </p:blipFill>
        <p:spPr>
          <a:xfrm>
            <a:off x="7964389" y="328489"/>
            <a:ext cx="804742" cy="7376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49296-F263-44CA-5FE2-178EDE95DF80}"/>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MODULES DESCRIPTION</a:t>
            </a:r>
            <a:endParaRPr lang="en-IN" dirty="0"/>
          </a:p>
        </p:txBody>
      </p:sp>
      <p:sp>
        <p:nvSpPr>
          <p:cNvPr id="3" name="Content Placeholder 2">
            <a:extLst>
              <a:ext uri="{FF2B5EF4-FFF2-40B4-BE49-F238E27FC236}">
                <a16:creationId xmlns:a16="http://schemas.microsoft.com/office/drawing/2014/main" id="{39E9A96D-6248-13D7-CB93-4A8E89810F22}"/>
              </a:ext>
            </a:extLst>
          </p:cNvPr>
          <p:cNvSpPr>
            <a:spLocks noGrp="1"/>
          </p:cNvSpPr>
          <p:nvPr>
            <p:ph idx="1"/>
          </p:nvPr>
        </p:nvSpPr>
        <p:spPr/>
        <p:txBody>
          <a:bodyPr>
            <a:normAutofit/>
          </a:bodyPr>
          <a:lstStyle/>
          <a:p>
            <a:pPr algn="just"/>
            <a:r>
              <a:rPr lang="en-US" sz="1800" b="1" dirty="0">
                <a:latin typeface="Times New Roman" panose="02020603050405020304" pitchFamily="18" charset="0"/>
                <a:cs typeface="Times New Roman" panose="02020603050405020304" pitchFamily="18" charset="0"/>
              </a:rPr>
              <a:t>1. User Authentication Module</a:t>
            </a:r>
          </a:p>
          <a:p>
            <a:pPr algn="just"/>
            <a:r>
              <a:rPr lang="en-US" sz="1800" dirty="0">
                <a:latin typeface="Times New Roman" panose="02020603050405020304" pitchFamily="18" charset="0"/>
                <a:cs typeface="Times New Roman" panose="02020603050405020304" pitchFamily="18" charset="0"/>
              </a:rPr>
              <a:t>This module allows users to select their role—Admin, Event Organizer, or Participant—before entering the system. It ensures each user is routed to the correct interface based on their chosen role.</a:t>
            </a:r>
          </a:p>
          <a:p>
            <a:pPr algn="just"/>
            <a:r>
              <a:rPr lang="en-US" sz="1800" b="1" dirty="0">
                <a:latin typeface="Times New Roman" panose="02020603050405020304" pitchFamily="18" charset="0"/>
                <a:cs typeface="Times New Roman" panose="02020603050405020304" pitchFamily="18" charset="0"/>
              </a:rPr>
              <a:t>2. Participant Registration Module</a:t>
            </a:r>
          </a:p>
          <a:p>
            <a:pPr algn="just"/>
            <a:r>
              <a:rPr lang="en-US" sz="1800" dirty="0">
                <a:latin typeface="Times New Roman" panose="02020603050405020304" pitchFamily="18" charset="0"/>
                <a:cs typeface="Times New Roman" panose="02020603050405020304" pitchFamily="18" charset="0"/>
              </a:rPr>
              <a:t>It enables participants to enter their personal and academic details for workshop registration. The module stores all submitted data and confirms successful registration.</a:t>
            </a:r>
          </a:p>
          <a:p>
            <a:pPr algn="just"/>
            <a:r>
              <a:rPr lang="en-US" sz="1800" b="1" dirty="0">
                <a:latin typeface="Times New Roman" panose="02020603050405020304" pitchFamily="18" charset="0"/>
                <a:cs typeface="Times New Roman" panose="02020603050405020304" pitchFamily="18" charset="0"/>
              </a:rPr>
              <a:t>3. Event Organizer Module</a:t>
            </a:r>
          </a:p>
          <a:p>
            <a:pPr algn="just"/>
            <a:r>
              <a:rPr lang="en-US" sz="1800" dirty="0">
                <a:latin typeface="Times New Roman" panose="02020603050405020304" pitchFamily="18" charset="0"/>
                <a:cs typeface="Times New Roman" panose="02020603050405020304" pitchFamily="18" charset="0"/>
              </a:rPr>
              <a:t>This module displays the full list of registered participants for the event organizer. It allows organizers to manage and update attendance records easily.</a:t>
            </a:r>
          </a:p>
          <a:p>
            <a:endParaRPr lang="en-IN" sz="1400" dirty="0"/>
          </a:p>
        </p:txBody>
      </p:sp>
      <p:pic>
        <p:nvPicPr>
          <p:cNvPr id="4" name="Picture 3">
            <a:extLst>
              <a:ext uri="{FF2B5EF4-FFF2-40B4-BE49-F238E27FC236}">
                <a16:creationId xmlns:a16="http://schemas.microsoft.com/office/drawing/2014/main" id="{F85A246E-88AD-A7D0-29BB-68B3450D10DD}"/>
              </a:ext>
            </a:extLst>
          </p:cNvPr>
          <p:cNvPicPr>
            <a:picLocks noChangeAspect="1"/>
          </p:cNvPicPr>
          <p:nvPr/>
        </p:nvPicPr>
        <p:blipFill>
          <a:blip r:embed="rId2"/>
          <a:stretch>
            <a:fillRect/>
          </a:stretch>
        </p:blipFill>
        <p:spPr>
          <a:xfrm>
            <a:off x="261799" y="286604"/>
            <a:ext cx="774259" cy="737680"/>
          </a:xfrm>
          <a:prstGeom prst="rect">
            <a:avLst/>
          </a:prstGeom>
        </p:spPr>
      </p:pic>
      <p:pic>
        <p:nvPicPr>
          <p:cNvPr id="5" name="Picture 4">
            <a:extLst>
              <a:ext uri="{FF2B5EF4-FFF2-40B4-BE49-F238E27FC236}">
                <a16:creationId xmlns:a16="http://schemas.microsoft.com/office/drawing/2014/main" id="{748C179F-3B35-4741-9EA3-EB14BCC6A85A}"/>
              </a:ext>
            </a:extLst>
          </p:cNvPr>
          <p:cNvPicPr>
            <a:picLocks noChangeAspect="1"/>
          </p:cNvPicPr>
          <p:nvPr/>
        </p:nvPicPr>
        <p:blipFill>
          <a:blip r:embed="rId3"/>
          <a:stretch>
            <a:fillRect/>
          </a:stretch>
        </p:blipFill>
        <p:spPr>
          <a:xfrm>
            <a:off x="7964389" y="328489"/>
            <a:ext cx="804742" cy="737680"/>
          </a:xfrm>
          <a:prstGeom prst="rect">
            <a:avLst/>
          </a:prstGeom>
        </p:spPr>
      </p:pic>
    </p:spTree>
    <p:extLst>
      <p:ext uri="{BB962C8B-B14F-4D97-AF65-F5344CB8AC3E}">
        <p14:creationId xmlns:p14="http://schemas.microsoft.com/office/powerpoint/2010/main" val="20083301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4D6C05-A471-D28A-C81C-FC67168EC262}"/>
              </a:ext>
            </a:extLst>
          </p:cNvPr>
          <p:cNvPicPr>
            <a:picLocks noChangeAspect="1"/>
          </p:cNvPicPr>
          <p:nvPr/>
        </p:nvPicPr>
        <p:blipFill>
          <a:blip r:embed="rId2"/>
          <a:stretch>
            <a:fillRect/>
          </a:stretch>
        </p:blipFill>
        <p:spPr>
          <a:xfrm>
            <a:off x="206606" y="328489"/>
            <a:ext cx="774259" cy="737680"/>
          </a:xfrm>
          <a:prstGeom prst="rect">
            <a:avLst/>
          </a:prstGeom>
        </p:spPr>
      </p:pic>
      <p:pic>
        <p:nvPicPr>
          <p:cNvPr id="4" name="Picture 3">
            <a:extLst>
              <a:ext uri="{FF2B5EF4-FFF2-40B4-BE49-F238E27FC236}">
                <a16:creationId xmlns:a16="http://schemas.microsoft.com/office/drawing/2014/main" id="{8138FB70-5F0E-DED9-97D8-877AA14D0D96}"/>
              </a:ext>
            </a:extLst>
          </p:cNvPr>
          <p:cNvPicPr>
            <a:picLocks noChangeAspect="1"/>
          </p:cNvPicPr>
          <p:nvPr/>
        </p:nvPicPr>
        <p:blipFill>
          <a:blip r:embed="rId3"/>
          <a:stretch>
            <a:fillRect/>
          </a:stretch>
        </p:blipFill>
        <p:spPr>
          <a:xfrm>
            <a:off x="7964389" y="328489"/>
            <a:ext cx="804742" cy="737680"/>
          </a:xfrm>
          <a:prstGeom prst="rect">
            <a:avLst/>
          </a:prstGeom>
        </p:spPr>
      </p:pic>
      <p:sp>
        <p:nvSpPr>
          <p:cNvPr id="5" name="Title 1">
            <a:extLst>
              <a:ext uri="{FF2B5EF4-FFF2-40B4-BE49-F238E27FC236}">
                <a16:creationId xmlns:a16="http://schemas.microsoft.com/office/drawing/2014/main" id="{362C083F-7576-CBB8-EB7A-842CA306C159}"/>
              </a:ext>
            </a:extLst>
          </p:cNvPr>
          <p:cNvSpPr txBox="1">
            <a:spLocks/>
          </p:cNvSpPr>
          <p:nvPr/>
        </p:nvSpPr>
        <p:spPr>
          <a:xfrm>
            <a:off x="800100" y="1041785"/>
            <a:ext cx="7543800" cy="1590964"/>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b="1" dirty="0">
                <a:latin typeface="Times New Roman" panose="02020603050405020304" pitchFamily="18" charset="0"/>
                <a:cs typeface="Times New Roman" panose="02020603050405020304" pitchFamily="18" charset="0"/>
              </a:rPr>
              <a:t>MODULES DESCRIPTION</a:t>
            </a:r>
            <a:endParaRPr lang="en-IN" dirty="0"/>
          </a:p>
        </p:txBody>
      </p:sp>
      <p:sp>
        <p:nvSpPr>
          <p:cNvPr id="6" name="TextBox 5">
            <a:extLst>
              <a:ext uri="{FF2B5EF4-FFF2-40B4-BE49-F238E27FC236}">
                <a16:creationId xmlns:a16="http://schemas.microsoft.com/office/drawing/2014/main" id="{63B34B71-452D-42E7-0427-66298593A4C1}"/>
              </a:ext>
            </a:extLst>
          </p:cNvPr>
          <p:cNvSpPr txBox="1"/>
          <p:nvPr/>
        </p:nvSpPr>
        <p:spPr>
          <a:xfrm>
            <a:off x="593735" y="2011680"/>
            <a:ext cx="7879705" cy="2585323"/>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4. Attendance Management Module</a:t>
            </a:r>
          </a:p>
          <a:p>
            <a:pPr algn="just"/>
            <a:r>
              <a:rPr lang="en-US" dirty="0">
                <a:latin typeface="Times New Roman" panose="02020603050405020304" pitchFamily="18" charset="0"/>
                <a:cs typeface="Times New Roman" panose="02020603050405020304" pitchFamily="18" charset="0"/>
              </a:rPr>
              <a:t>The module handles marking, updating, and storing participant attendance. It ensures accurate attendance information is available for organizers and admins.</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5. Admin Dashboard Module</a:t>
            </a:r>
          </a:p>
          <a:p>
            <a:pPr algn="just"/>
            <a:r>
              <a:rPr lang="en-US" dirty="0">
                <a:latin typeface="Times New Roman" panose="02020603050405020304" pitchFamily="18" charset="0"/>
                <a:cs typeface="Times New Roman" panose="02020603050405020304" pitchFamily="18" charset="0"/>
              </a:rPr>
              <a:t>This module provides the admin with complete details of registrations and attendance statistics. It helps in monitoring system data such as total registrations and attendance percentage.</a:t>
            </a:r>
          </a:p>
          <a:p>
            <a:endParaRPr lang="en-IN" dirty="0"/>
          </a:p>
        </p:txBody>
      </p:sp>
      <p:cxnSp>
        <p:nvCxnSpPr>
          <p:cNvPr id="8" name="Straight Connector 7">
            <a:extLst>
              <a:ext uri="{FF2B5EF4-FFF2-40B4-BE49-F238E27FC236}">
                <a16:creationId xmlns:a16="http://schemas.microsoft.com/office/drawing/2014/main" id="{86FE3E49-F38F-9745-5DC0-450A150C086F}"/>
              </a:ext>
            </a:extLst>
          </p:cNvPr>
          <p:cNvCxnSpPr>
            <a:cxnSpLocks/>
          </p:cNvCxnSpPr>
          <p:nvPr/>
        </p:nvCxnSpPr>
        <p:spPr>
          <a:xfrm>
            <a:off x="926592" y="1712976"/>
            <a:ext cx="7417308" cy="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46444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FLOW DIAGRAM</a:t>
            </a:r>
            <a:endParaRPr sz="4000" b="1"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AB9CD6ED-5BC4-DB70-30E5-AF72EBD54248}"/>
              </a:ext>
            </a:extLst>
          </p:cNvPr>
          <p:cNvPicPr>
            <a:picLocks noGrp="1" noChangeAspect="1"/>
          </p:cNvPicPr>
          <p:nvPr>
            <p:ph idx="1"/>
          </p:nvPr>
        </p:nvPicPr>
        <p:blipFill>
          <a:blip r:embed="rId2"/>
          <a:srcRect l="-1" t="-202" r="467" b="202"/>
          <a:stretch>
            <a:fillRect/>
          </a:stretch>
        </p:blipFill>
        <p:spPr>
          <a:xfrm>
            <a:off x="1573161" y="1803519"/>
            <a:ext cx="5987846" cy="4313478"/>
          </a:xfrm>
        </p:spPr>
      </p:pic>
      <p:pic>
        <p:nvPicPr>
          <p:cNvPr id="6" name="Picture 5">
            <a:extLst>
              <a:ext uri="{FF2B5EF4-FFF2-40B4-BE49-F238E27FC236}">
                <a16:creationId xmlns:a16="http://schemas.microsoft.com/office/drawing/2014/main" id="{F7F7DAB3-0F85-FC3E-478F-22C8C074B1D0}"/>
              </a:ext>
            </a:extLst>
          </p:cNvPr>
          <p:cNvPicPr>
            <a:picLocks noChangeAspect="1"/>
          </p:cNvPicPr>
          <p:nvPr/>
        </p:nvPicPr>
        <p:blipFill>
          <a:blip r:embed="rId3"/>
          <a:stretch>
            <a:fillRect/>
          </a:stretch>
        </p:blipFill>
        <p:spPr>
          <a:xfrm>
            <a:off x="281464" y="237652"/>
            <a:ext cx="774259" cy="737680"/>
          </a:xfrm>
          <a:prstGeom prst="rect">
            <a:avLst/>
          </a:prstGeom>
        </p:spPr>
      </p:pic>
      <p:pic>
        <p:nvPicPr>
          <p:cNvPr id="7" name="Picture 6">
            <a:extLst>
              <a:ext uri="{FF2B5EF4-FFF2-40B4-BE49-F238E27FC236}">
                <a16:creationId xmlns:a16="http://schemas.microsoft.com/office/drawing/2014/main" id="{A8B6FA6B-236B-3A12-695C-914552DB5D2C}"/>
              </a:ext>
            </a:extLst>
          </p:cNvPr>
          <p:cNvPicPr>
            <a:picLocks noChangeAspect="1"/>
          </p:cNvPicPr>
          <p:nvPr/>
        </p:nvPicPr>
        <p:blipFill>
          <a:blip r:embed="rId4"/>
          <a:stretch>
            <a:fillRect/>
          </a:stretch>
        </p:blipFill>
        <p:spPr>
          <a:xfrm>
            <a:off x="7846893" y="343139"/>
            <a:ext cx="804742" cy="7376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25042"/>
            <a:ext cx="7543800" cy="1450757"/>
          </a:xfrm>
        </p:spPr>
        <p:txBody>
          <a:bodyPr>
            <a:normAutofit/>
          </a:bodyPr>
          <a:lstStyle/>
          <a:p>
            <a:r>
              <a:rPr lang="en-IN" sz="4000" b="1" dirty="0">
                <a:latin typeface="Times New Roman" panose="02020603050405020304" pitchFamily="18" charset="0"/>
                <a:cs typeface="Times New Roman" panose="02020603050405020304" pitchFamily="18" charset="0"/>
              </a:rPr>
              <a:t>USE CASE DIAGRAM</a:t>
            </a:r>
          </a:p>
        </p:txBody>
      </p:sp>
      <p:pic>
        <p:nvPicPr>
          <p:cNvPr id="25" name="Picture 24">
            <a:extLst>
              <a:ext uri="{FF2B5EF4-FFF2-40B4-BE49-F238E27FC236}">
                <a16:creationId xmlns:a16="http://schemas.microsoft.com/office/drawing/2014/main" id="{77082513-0AB3-18E4-F79C-62E28A63CCF7}"/>
              </a:ext>
            </a:extLst>
          </p:cNvPr>
          <p:cNvPicPr>
            <a:picLocks noChangeAspect="1"/>
          </p:cNvPicPr>
          <p:nvPr/>
        </p:nvPicPr>
        <p:blipFill>
          <a:blip r:embed="rId2"/>
          <a:stretch>
            <a:fillRect/>
          </a:stretch>
        </p:blipFill>
        <p:spPr>
          <a:xfrm>
            <a:off x="242135" y="212741"/>
            <a:ext cx="774259" cy="737680"/>
          </a:xfrm>
          <a:prstGeom prst="rect">
            <a:avLst/>
          </a:prstGeom>
        </p:spPr>
      </p:pic>
      <p:pic>
        <p:nvPicPr>
          <p:cNvPr id="26" name="Picture 25">
            <a:extLst>
              <a:ext uri="{FF2B5EF4-FFF2-40B4-BE49-F238E27FC236}">
                <a16:creationId xmlns:a16="http://schemas.microsoft.com/office/drawing/2014/main" id="{57584791-722C-7905-3E4F-5273BCA447C8}"/>
              </a:ext>
            </a:extLst>
          </p:cNvPr>
          <p:cNvPicPr>
            <a:picLocks noChangeAspect="1"/>
          </p:cNvPicPr>
          <p:nvPr/>
        </p:nvPicPr>
        <p:blipFill>
          <a:blip r:embed="rId3"/>
          <a:stretch>
            <a:fillRect/>
          </a:stretch>
        </p:blipFill>
        <p:spPr>
          <a:xfrm>
            <a:off x="7964389" y="212741"/>
            <a:ext cx="804742" cy="737680"/>
          </a:xfrm>
          <a:prstGeom prst="rect">
            <a:avLst/>
          </a:prstGeom>
        </p:spPr>
      </p:pic>
      <p:pic>
        <p:nvPicPr>
          <p:cNvPr id="7" name="Content Placeholder 6">
            <a:extLst>
              <a:ext uri="{FF2B5EF4-FFF2-40B4-BE49-F238E27FC236}">
                <a16:creationId xmlns:a16="http://schemas.microsoft.com/office/drawing/2014/main" id="{A114B066-EF6B-7372-F51B-30C956ED2194}"/>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1633728" y="1950720"/>
            <a:ext cx="5803392" cy="39014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7CCB12-345F-8071-7ACD-B3D49476C7A2}"/>
              </a:ext>
            </a:extLst>
          </p:cNvPr>
          <p:cNvSpPr txBox="1"/>
          <p:nvPr/>
        </p:nvSpPr>
        <p:spPr>
          <a:xfrm>
            <a:off x="1927122" y="442913"/>
            <a:ext cx="5181600" cy="707886"/>
          </a:xfrm>
          <a:prstGeom prst="rect">
            <a:avLst/>
          </a:prstGeom>
          <a:noFill/>
        </p:spPr>
        <p:txBody>
          <a:bodyPr wrap="square" rtlCol="0">
            <a:spAutoFit/>
          </a:bodyPr>
          <a:lstStyle/>
          <a:p>
            <a:pPr algn="ctr"/>
            <a:r>
              <a:rPr lang="en-IN" sz="4000" b="1">
                <a:latin typeface="Times New Roman" panose="02020603050405020304" pitchFamily="18" charset="0"/>
                <a:cs typeface="Times New Roman" panose="02020603050405020304" pitchFamily="18" charset="0"/>
              </a:rPr>
              <a:t>CLASS DIAGRAM</a:t>
            </a:r>
            <a:endParaRPr lang="en-IN" sz="40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5984281-1D9C-E9D1-2136-20DE8AE16C00}"/>
              </a:ext>
            </a:extLst>
          </p:cNvPr>
          <p:cNvPicPr>
            <a:picLocks noChangeAspect="1"/>
          </p:cNvPicPr>
          <p:nvPr/>
        </p:nvPicPr>
        <p:blipFill>
          <a:blip r:embed="rId2"/>
          <a:stretch>
            <a:fillRect/>
          </a:stretch>
        </p:blipFill>
        <p:spPr>
          <a:xfrm>
            <a:off x="258127" y="235548"/>
            <a:ext cx="774259" cy="737680"/>
          </a:xfrm>
          <a:prstGeom prst="rect">
            <a:avLst/>
          </a:prstGeom>
        </p:spPr>
      </p:pic>
      <p:pic>
        <p:nvPicPr>
          <p:cNvPr id="6" name="Picture 5">
            <a:extLst>
              <a:ext uri="{FF2B5EF4-FFF2-40B4-BE49-F238E27FC236}">
                <a16:creationId xmlns:a16="http://schemas.microsoft.com/office/drawing/2014/main" id="{62013DD3-C20A-9D26-89C5-BF97AAC0E038}"/>
              </a:ext>
            </a:extLst>
          </p:cNvPr>
          <p:cNvPicPr>
            <a:picLocks noChangeAspect="1"/>
          </p:cNvPicPr>
          <p:nvPr/>
        </p:nvPicPr>
        <p:blipFill>
          <a:blip r:embed="rId3"/>
          <a:stretch>
            <a:fillRect/>
          </a:stretch>
        </p:blipFill>
        <p:spPr>
          <a:xfrm>
            <a:off x="8161525" y="252754"/>
            <a:ext cx="804742" cy="737680"/>
          </a:xfrm>
          <a:prstGeom prst="rect">
            <a:avLst/>
          </a:prstGeom>
        </p:spPr>
      </p:pic>
      <p:pic>
        <p:nvPicPr>
          <p:cNvPr id="3" name="Picture 2">
            <a:extLst>
              <a:ext uri="{FF2B5EF4-FFF2-40B4-BE49-F238E27FC236}">
                <a16:creationId xmlns:a16="http://schemas.microsoft.com/office/drawing/2014/main" id="{89223D42-2278-19DE-FCF1-77C625368EC1}"/>
              </a:ext>
            </a:extLst>
          </p:cNvPr>
          <p:cNvPicPr>
            <a:picLocks noChangeAspect="1"/>
          </p:cNvPicPr>
          <p:nvPr/>
        </p:nvPicPr>
        <p:blipFill rotWithShape="1">
          <a:blip r:embed="rId4">
            <a:extLst>
              <a:ext uri="{28A0092B-C50C-407E-A947-70E740481C1C}">
                <a14:useLocalDpi xmlns:a14="http://schemas.microsoft.com/office/drawing/2010/main" val="0"/>
              </a:ext>
            </a:extLst>
          </a:blip>
          <a:srcRect l="921" t="412" r="790"/>
          <a:stretch>
            <a:fillRect/>
          </a:stretch>
        </p:blipFill>
        <p:spPr bwMode="auto">
          <a:xfrm>
            <a:off x="1766887" y="1377315"/>
            <a:ext cx="5610225" cy="4591050"/>
          </a:xfrm>
          <a:prstGeom prst="rect">
            <a:avLst/>
          </a:prstGeom>
          <a:ln>
            <a:noFill/>
          </a:ln>
          <a:extLst>
            <a:ext uri="{53640926-AAD7-44D8-BBD7-CCE9431645EC}">
              <a14:shadowObscured xmlns:a14="http://schemas.microsoft.com/office/drawing/2010/main"/>
            </a:ext>
          </a:extLst>
        </p:spPr>
      </p:pic>
      <p:cxnSp>
        <p:nvCxnSpPr>
          <p:cNvPr id="7" name="Straight Connector 6">
            <a:extLst>
              <a:ext uri="{FF2B5EF4-FFF2-40B4-BE49-F238E27FC236}">
                <a16:creationId xmlns:a16="http://schemas.microsoft.com/office/drawing/2014/main" id="{88C1D546-87AC-644A-8B3C-46EF7F88119C}"/>
              </a:ext>
            </a:extLst>
          </p:cNvPr>
          <p:cNvCxnSpPr>
            <a:cxnSpLocks/>
          </p:cNvCxnSpPr>
          <p:nvPr/>
        </p:nvCxnSpPr>
        <p:spPr>
          <a:xfrm>
            <a:off x="1182231" y="1143130"/>
            <a:ext cx="7417308" cy="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216924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7207E-C35A-4F94-C477-5B28F09E270C}"/>
              </a:ext>
            </a:extLst>
          </p:cNvPr>
          <p:cNvSpPr txBox="1">
            <a:spLocks/>
          </p:cNvSpPr>
          <p:nvPr/>
        </p:nvSpPr>
        <p:spPr>
          <a:xfrm>
            <a:off x="1358065" y="280461"/>
            <a:ext cx="7543800" cy="14507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4000" b="1" dirty="0">
                <a:latin typeface="Times New Roman" panose="02020603050405020304" pitchFamily="18" charset="0"/>
                <a:cs typeface="Times New Roman" panose="02020603050405020304" pitchFamily="18" charset="0"/>
              </a:rPr>
              <a:t>ACTIVITY  DIAGRAM</a:t>
            </a:r>
          </a:p>
        </p:txBody>
      </p:sp>
      <p:pic>
        <p:nvPicPr>
          <p:cNvPr id="3" name="Picture 2">
            <a:extLst>
              <a:ext uri="{FF2B5EF4-FFF2-40B4-BE49-F238E27FC236}">
                <a16:creationId xmlns:a16="http://schemas.microsoft.com/office/drawing/2014/main" id="{BA2B3E47-81F3-0BE5-04C3-2B22688B76A0}"/>
              </a:ext>
            </a:extLst>
          </p:cNvPr>
          <p:cNvPicPr>
            <a:picLocks noChangeAspect="1"/>
          </p:cNvPicPr>
          <p:nvPr/>
        </p:nvPicPr>
        <p:blipFill>
          <a:blip r:embed="rId2"/>
          <a:stretch>
            <a:fillRect/>
          </a:stretch>
        </p:blipFill>
        <p:spPr>
          <a:xfrm>
            <a:off x="242135" y="212741"/>
            <a:ext cx="774259" cy="737680"/>
          </a:xfrm>
          <a:prstGeom prst="rect">
            <a:avLst/>
          </a:prstGeom>
        </p:spPr>
      </p:pic>
      <p:pic>
        <p:nvPicPr>
          <p:cNvPr id="4" name="Picture 3">
            <a:extLst>
              <a:ext uri="{FF2B5EF4-FFF2-40B4-BE49-F238E27FC236}">
                <a16:creationId xmlns:a16="http://schemas.microsoft.com/office/drawing/2014/main" id="{30523A6F-2E99-4F35-43B0-9F44EBA7DF41}"/>
              </a:ext>
            </a:extLst>
          </p:cNvPr>
          <p:cNvPicPr>
            <a:picLocks noChangeAspect="1"/>
          </p:cNvPicPr>
          <p:nvPr/>
        </p:nvPicPr>
        <p:blipFill>
          <a:blip r:embed="rId3"/>
          <a:stretch>
            <a:fillRect/>
          </a:stretch>
        </p:blipFill>
        <p:spPr>
          <a:xfrm>
            <a:off x="7964389" y="212741"/>
            <a:ext cx="804742" cy="737680"/>
          </a:xfrm>
          <a:prstGeom prst="rect">
            <a:avLst/>
          </a:prstGeom>
        </p:spPr>
      </p:pic>
      <p:pic>
        <p:nvPicPr>
          <p:cNvPr id="6" name="Picture 5">
            <a:extLst>
              <a:ext uri="{FF2B5EF4-FFF2-40B4-BE49-F238E27FC236}">
                <a16:creationId xmlns:a16="http://schemas.microsoft.com/office/drawing/2014/main" id="{4DA312BA-E7BB-C352-E4CA-8C4E4E15BA3E}"/>
              </a:ext>
            </a:extLst>
          </p:cNvPr>
          <p:cNvPicPr>
            <a:picLocks noChangeAspect="1"/>
          </p:cNvPicPr>
          <p:nvPr/>
        </p:nvPicPr>
        <p:blipFill rotWithShape="1">
          <a:blip r:embed="rId4">
            <a:extLst>
              <a:ext uri="{28A0092B-C50C-407E-A947-70E740481C1C}">
                <a14:useLocalDpi xmlns:a14="http://schemas.microsoft.com/office/drawing/2010/main" val="0"/>
              </a:ext>
            </a:extLst>
          </a:blip>
          <a:srcRect l="2659" t="2505" r="7269" b="4408"/>
          <a:stretch>
            <a:fillRect/>
          </a:stretch>
        </p:blipFill>
        <p:spPr bwMode="auto">
          <a:xfrm>
            <a:off x="1990725" y="1092517"/>
            <a:ext cx="5162550" cy="503872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022455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8C3E572-4390-A549-7EF8-EDD56699EAE4}"/>
              </a:ext>
            </a:extLst>
          </p:cNvPr>
          <p:cNvSpPr txBox="1">
            <a:spLocks/>
          </p:cNvSpPr>
          <p:nvPr/>
        </p:nvSpPr>
        <p:spPr>
          <a:xfrm>
            <a:off x="1358065" y="280461"/>
            <a:ext cx="7543800" cy="14507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4000" b="1" dirty="0">
                <a:latin typeface="Times New Roman" panose="02020603050405020304" pitchFamily="18" charset="0"/>
                <a:cs typeface="Times New Roman" panose="02020603050405020304" pitchFamily="18" charset="0"/>
              </a:rPr>
              <a:t>SEQUENCE   DIAGRAM</a:t>
            </a:r>
          </a:p>
        </p:txBody>
      </p:sp>
      <p:pic>
        <p:nvPicPr>
          <p:cNvPr id="4" name="Picture 3">
            <a:extLst>
              <a:ext uri="{FF2B5EF4-FFF2-40B4-BE49-F238E27FC236}">
                <a16:creationId xmlns:a16="http://schemas.microsoft.com/office/drawing/2014/main" id="{F95AE36F-84D0-622E-285D-345495414CB3}"/>
              </a:ext>
            </a:extLst>
          </p:cNvPr>
          <p:cNvPicPr>
            <a:picLocks noChangeAspect="1"/>
          </p:cNvPicPr>
          <p:nvPr/>
        </p:nvPicPr>
        <p:blipFill>
          <a:blip r:embed="rId2"/>
          <a:stretch>
            <a:fillRect/>
          </a:stretch>
        </p:blipFill>
        <p:spPr>
          <a:xfrm>
            <a:off x="242135" y="212741"/>
            <a:ext cx="774259" cy="737680"/>
          </a:xfrm>
          <a:prstGeom prst="rect">
            <a:avLst/>
          </a:prstGeom>
        </p:spPr>
      </p:pic>
      <p:pic>
        <p:nvPicPr>
          <p:cNvPr id="5" name="Picture 4">
            <a:extLst>
              <a:ext uri="{FF2B5EF4-FFF2-40B4-BE49-F238E27FC236}">
                <a16:creationId xmlns:a16="http://schemas.microsoft.com/office/drawing/2014/main" id="{10E3BD22-1977-3D6D-144A-DEDEA4E4CB1C}"/>
              </a:ext>
            </a:extLst>
          </p:cNvPr>
          <p:cNvPicPr>
            <a:picLocks noChangeAspect="1"/>
          </p:cNvPicPr>
          <p:nvPr/>
        </p:nvPicPr>
        <p:blipFill>
          <a:blip r:embed="rId3"/>
          <a:stretch>
            <a:fillRect/>
          </a:stretch>
        </p:blipFill>
        <p:spPr>
          <a:xfrm>
            <a:off x="7964389" y="212741"/>
            <a:ext cx="804742" cy="737680"/>
          </a:xfrm>
          <a:prstGeom prst="rect">
            <a:avLst/>
          </a:prstGeom>
        </p:spPr>
      </p:pic>
      <p:pic>
        <p:nvPicPr>
          <p:cNvPr id="7" name="Picture 6">
            <a:extLst>
              <a:ext uri="{FF2B5EF4-FFF2-40B4-BE49-F238E27FC236}">
                <a16:creationId xmlns:a16="http://schemas.microsoft.com/office/drawing/2014/main" id="{EB7DD9E1-FACD-647F-8429-A9B568077E39}"/>
              </a:ext>
            </a:extLst>
          </p:cNvPr>
          <p:cNvPicPr>
            <a:picLocks noChangeAspect="1"/>
          </p:cNvPicPr>
          <p:nvPr/>
        </p:nvPicPr>
        <p:blipFill rotWithShape="1">
          <a:blip r:embed="rId4">
            <a:extLst>
              <a:ext uri="{28A0092B-C50C-407E-A947-70E740481C1C}">
                <a14:useLocalDpi xmlns:a14="http://schemas.microsoft.com/office/drawing/2010/main" val="0"/>
              </a:ext>
            </a:extLst>
          </a:blip>
          <a:srcRect t="1168" r="3778" b="10016"/>
          <a:stretch>
            <a:fillRect/>
          </a:stretch>
        </p:blipFill>
        <p:spPr bwMode="auto">
          <a:xfrm>
            <a:off x="1814512" y="1163574"/>
            <a:ext cx="5514975" cy="50673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2858195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A97EA-26D6-14AF-C5E1-45D94DAC96AD}"/>
              </a:ext>
            </a:extLst>
          </p:cNvPr>
          <p:cNvSpPr txBox="1">
            <a:spLocks/>
          </p:cNvSpPr>
          <p:nvPr/>
        </p:nvSpPr>
        <p:spPr>
          <a:xfrm>
            <a:off x="1443409" y="188402"/>
            <a:ext cx="7543800" cy="14507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4000" b="1" dirty="0">
                <a:latin typeface="Times New Roman" panose="02020603050405020304" pitchFamily="18" charset="0"/>
                <a:cs typeface="Times New Roman" panose="02020603050405020304" pitchFamily="18" charset="0"/>
              </a:rPr>
              <a:t>COLLABORATION</a:t>
            </a:r>
          </a:p>
          <a:p>
            <a:r>
              <a:rPr lang="en-IN" sz="4000" b="1" dirty="0">
                <a:latin typeface="Times New Roman" panose="02020603050405020304" pitchFamily="18" charset="0"/>
                <a:cs typeface="Times New Roman" panose="02020603050405020304" pitchFamily="18" charset="0"/>
              </a:rPr>
              <a:t>  DIAGRAM</a:t>
            </a:r>
          </a:p>
        </p:txBody>
      </p:sp>
      <p:pic>
        <p:nvPicPr>
          <p:cNvPr id="3" name="Picture 2">
            <a:extLst>
              <a:ext uri="{FF2B5EF4-FFF2-40B4-BE49-F238E27FC236}">
                <a16:creationId xmlns:a16="http://schemas.microsoft.com/office/drawing/2014/main" id="{9BBE333A-FCAE-4E92-C2B7-63C31ABA15C3}"/>
              </a:ext>
            </a:extLst>
          </p:cNvPr>
          <p:cNvPicPr>
            <a:picLocks noChangeAspect="1"/>
          </p:cNvPicPr>
          <p:nvPr/>
        </p:nvPicPr>
        <p:blipFill>
          <a:blip r:embed="rId2"/>
          <a:stretch>
            <a:fillRect/>
          </a:stretch>
        </p:blipFill>
        <p:spPr>
          <a:xfrm>
            <a:off x="242135" y="212741"/>
            <a:ext cx="774259" cy="737680"/>
          </a:xfrm>
          <a:prstGeom prst="rect">
            <a:avLst/>
          </a:prstGeom>
        </p:spPr>
      </p:pic>
      <p:pic>
        <p:nvPicPr>
          <p:cNvPr id="4" name="Picture 3">
            <a:extLst>
              <a:ext uri="{FF2B5EF4-FFF2-40B4-BE49-F238E27FC236}">
                <a16:creationId xmlns:a16="http://schemas.microsoft.com/office/drawing/2014/main" id="{95633C73-617C-26EE-D33A-5C3694AB914C}"/>
              </a:ext>
            </a:extLst>
          </p:cNvPr>
          <p:cNvPicPr>
            <a:picLocks noChangeAspect="1"/>
          </p:cNvPicPr>
          <p:nvPr/>
        </p:nvPicPr>
        <p:blipFill>
          <a:blip r:embed="rId3"/>
          <a:stretch>
            <a:fillRect/>
          </a:stretch>
        </p:blipFill>
        <p:spPr>
          <a:xfrm>
            <a:off x="7964389" y="212741"/>
            <a:ext cx="804742" cy="737680"/>
          </a:xfrm>
          <a:prstGeom prst="rect">
            <a:avLst/>
          </a:prstGeom>
        </p:spPr>
      </p:pic>
      <p:pic>
        <p:nvPicPr>
          <p:cNvPr id="6" name="Picture 5">
            <a:extLst>
              <a:ext uri="{FF2B5EF4-FFF2-40B4-BE49-F238E27FC236}">
                <a16:creationId xmlns:a16="http://schemas.microsoft.com/office/drawing/2014/main" id="{277AF6E9-4BB3-8FA6-B002-ECA9797C40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94374" y="1639159"/>
            <a:ext cx="1675034" cy="4409567"/>
          </a:xfrm>
          <a:prstGeom prst="rect">
            <a:avLst/>
          </a:prstGeom>
        </p:spPr>
      </p:pic>
    </p:spTree>
    <p:extLst>
      <p:ext uri="{BB962C8B-B14F-4D97-AF65-F5344CB8AC3E}">
        <p14:creationId xmlns:p14="http://schemas.microsoft.com/office/powerpoint/2010/main" val="16792156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6760D-2FF8-5349-0E49-07FD138B8ACE}"/>
              </a:ext>
            </a:extLst>
          </p:cNvPr>
          <p:cNvSpPr txBox="1">
            <a:spLocks/>
          </p:cNvSpPr>
          <p:nvPr/>
        </p:nvSpPr>
        <p:spPr>
          <a:xfrm>
            <a:off x="1443409" y="188402"/>
            <a:ext cx="7543800" cy="14507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4000" b="1" dirty="0">
                <a:latin typeface="Times New Roman" panose="02020603050405020304" pitchFamily="18" charset="0"/>
                <a:cs typeface="Times New Roman" panose="02020603050405020304" pitchFamily="18" charset="0"/>
              </a:rPr>
              <a:t>COMPONENT DIAGRAM</a:t>
            </a:r>
          </a:p>
        </p:txBody>
      </p:sp>
      <p:pic>
        <p:nvPicPr>
          <p:cNvPr id="3" name="Picture 2">
            <a:extLst>
              <a:ext uri="{FF2B5EF4-FFF2-40B4-BE49-F238E27FC236}">
                <a16:creationId xmlns:a16="http://schemas.microsoft.com/office/drawing/2014/main" id="{9C378FD7-F0C7-68AF-85B3-0076F88B429E}"/>
              </a:ext>
            </a:extLst>
          </p:cNvPr>
          <p:cNvPicPr>
            <a:picLocks noChangeAspect="1"/>
          </p:cNvPicPr>
          <p:nvPr/>
        </p:nvPicPr>
        <p:blipFill>
          <a:blip r:embed="rId2"/>
          <a:stretch>
            <a:fillRect/>
          </a:stretch>
        </p:blipFill>
        <p:spPr>
          <a:xfrm>
            <a:off x="242135" y="212741"/>
            <a:ext cx="774259" cy="737680"/>
          </a:xfrm>
          <a:prstGeom prst="rect">
            <a:avLst/>
          </a:prstGeom>
        </p:spPr>
      </p:pic>
      <p:pic>
        <p:nvPicPr>
          <p:cNvPr id="4" name="Picture 3">
            <a:extLst>
              <a:ext uri="{FF2B5EF4-FFF2-40B4-BE49-F238E27FC236}">
                <a16:creationId xmlns:a16="http://schemas.microsoft.com/office/drawing/2014/main" id="{AE27B8AB-2533-179C-31E3-A01131C2027B}"/>
              </a:ext>
            </a:extLst>
          </p:cNvPr>
          <p:cNvPicPr>
            <a:picLocks noChangeAspect="1"/>
          </p:cNvPicPr>
          <p:nvPr/>
        </p:nvPicPr>
        <p:blipFill>
          <a:blip r:embed="rId3"/>
          <a:stretch>
            <a:fillRect/>
          </a:stretch>
        </p:blipFill>
        <p:spPr>
          <a:xfrm>
            <a:off x="7964389" y="212741"/>
            <a:ext cx="804742" cy="737680"/>
          </a:xfrm>
          <a:prstGeom prst="rect">
            <a:avLst/>
          </a:prstGeom>
        </p:spPr>
      </p:pic>
      <p:pic>
        <p:nvPicPr>
          <p:cNvPr id="6" name="Picture 5">
            <a:extLst>
              <a:ext uri="{FF2B5EF4-FFF2-40B4-BE49-F238E27FC236}">
                <a16:creationId xmlns:a16="http://schemas.microsoft.com/office/drawing/2014/main" id="{B53986E9-FBF1-587C-BEBC-3FC0B7F98E60}"/>
              </a:ext>
            </a:extLst>
          </p:cNvPr>
          <p:cNvPicPr>
            <a:picLocks noChangeAspect="1"/>
          </p:cNvPicPr>
          <p:nvPr/>
        </p:nvPicPr>
        <p:blipFill rotWithShape="1">
          <a:blip r:embed="rId4">
            <a:extLst>
              <a:ext uri="{28A0092B-C50C-407E-A947-70E740481C1C}">
                <a14:useLocalDpi xmlns:a14="http://schemas.microsoft.com/office/drawing/2010/main" val="0"/>
              </a:ext>
            </a:extLst>
          </a:blip>
          <a:srcRect l="831" t="2872" r="8099" b="4500"/>
          <a:stretch>
            <a:fillRect/>
          </a:stretch>
        </p:blipFill>
        <p:spPr bwMode="auto">
          <a:xfrm>
            <a:off x="1632966" y="1328928"/>
            <a:ext cx="5219700" cy="47244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715543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402BC-C128-E5BA-2928-0B642D53F576}"/>
              </a:ext>
            </a:extLst>
          </p:cNvPr>
          <p:cNvSpPr txBox="1">
            <a:spLocks/>
          </p:cNvSpPr>
          <p:nvPr/>
        </p:nvSpPr>
        <p:spPr>
          <a:xfrm>
            <a:off x="1443409" y="200594"/>
            <a:ext cx="7543800" cy="14507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4000" b="1" dirty="0">
                <a:latin typeface="Times New Roman" panose="02020603050405020304" pitchFamily="18" charset="0"/>
                <a:cs typeface="Times New Roman" panose="02020603050405020304" pitchFamily="18" charset="0"/>
              </a:rPr>
              <a:t>DEPLOYMENT DIAGRAM</a:t>
            </a:r>
          </a:p>
        </p:txBody>
      </p:sp>
      <p:pic>
        <p:nvPicPr>
          <p:cNvPr id="3" name="Picture 2">
            <a:extLst>
              <a:ext uri="{FF2B5EF4-FFF2-40B4-BE49-F238E27FC236}">
                <a16:creationId xmlns:a16="http://schemas.microsoft.com/office/drawing/2014/main" id="{EBA48D8D-F926-4C3A-976A-788D88147FC0}"/>
              </a:ext>
            </a:extLst>
          </p:cNvPr>
          <p:cNvPicPr>
            <a:picLocks noChangeAspect="1"/>
          </p:cNvPicPr>
          <p:nvPr/>
        </p:nvPicPr>
        <p:blipFill>
          <a:blip r:embed="rId2"/>
          <a:stretch>
            <a:fillRect/>
          </a:stretch>
        </p:blipFill>
        <p:spPr>
          <a:xfrm>
            <a:off x="242135" y="224933"/>
            <a:ext cx="774259" cy="737680"/>
          </a:xfrm>
          <a:prstGeom prst="rect">
            <a:avLst/>
          </a:prstGeom>
        </p:spPr>
      </p:pic>
      <p:pic>
        <p:nvPicPr>
          <p:cNvPr id="4" name="Picture 3">
            <a:extLst>
              <a:ext uri="{FF2B5EF4-FFF2-40B4-BE49-F238E27FC236}">
                <a16:creationId xmlns:a16="http://schemas.microsoft.com/office/drawing/2014/main" id="{A77069D3-61F9-2A69-623F-F1700B3B567B}"/>
              </a:ext>
            </a:extLst>
          </p:cNvPr>
          <p:cNvPicPr>
            <a:picLocks noChangeAspect="1"/>
          </p:cNvPicPr>
          <p:nvPr/>
        </p:nvPicPr>
        <p:blipFill>
          <a:blip r:embed="rId3"/>
          <a:stretch>
            <a:fillRect/>
          </a:stretch>
        </p:blipFill>
        <p:spPr>
          <a:xfrm>
            <a:off x="7964389" y="224933"/>
            <a:ext cx="804742" cy="737680"/>
          </a:xfrm>
          <a:prstGeom prst="rect">
            <a:avLst/>
          </a:prstGeom>
        </p:spPr>
      </p:pic>
      <p:pic>
        <p:nvPicPr>
          <p:cNvPr id="6" name="Picture 5">
            <a:extLst>
              <a:ext uri="{FF2B5EF4-FFF2-40B4-BE49-F238E27FC236}">
                <a16:creationId xmlns:a16="http://schemas.microsoft.com/office/drawing/2014/main" id="{5C7E4FCC-AF20-E9D6-4A12-60A6F1E7130D}"/>
              </a:ext>
            </a:extLst>
          </p:cNvPr>
          <p:cNvPicPr>
            <a:picLocks noChangeAspect="1"/>
          </p:cNvPicPr>
          <p:nvPr/>
        </p:nvPicPr>
        <p:blipFill rotWithShape="1">
          <a:blip r:embed="rId4">
            <a:extLst>
              <a:ext uri="{28A0092B-C50C-407E-A947-70E740481C1C}">
                <a14:useLocalDpi xmlns:a14="http://schemas.microsoft.com/office/drawing/2010/main" val="0"/>
              </a:ext>
            </a:extLst>
          </a:blip>
          <a:srcRect l="5984" t="7744" r="14414" b="24336"/>
          <a:stretch>
            <a:fillRect/>
          </a:stretch>
        </p:blipFill>
        <p:spPr bwMode="auto">
          <a:xfrm>
            <a:off x="2290762" y="1145667"/>
            <a:ext cx="4562475" cy="459105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2916134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C76E7-273E-B2E7-E627-1A6E8C1CC1E2}"/>
              </a:ext>
            </a:extLst>
          </p:cNvPr>
          <p:cNvSpPr txBox="1">
            <a:spLocks/>
          </p:cNvSpPr>
          <p:nvPr/>
        </p:nvSpPr>
        <p:spPr>
          <a:xfrm>
            <a:off x="1443409" y="188402"/>
            <a:ext cx="7543800" cy="14507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4000" b="1" dirty="0">
                <a:latin typeface="Times New Roman" panose="02020603050405020304" pitchFamily="18" charset="0"/>
                <a:cs typeface="Times New Roman" panose="02020603050405020304" pitchFamily="18" charset="0"/>
              </a:rPr>
              <a:t>PACKAGE  DIAGRAM</a:t>
            </a:r>
          </a:p>
        </p:txBody>
      </p:sp>
      <p:pic>
        <p:nvPicPr>
          <p:cNvPr id="3" name="Picture 2">
            <a:extLst>
              <a:ext uri="{FF2B5EF4-FFF2-40B4-BE49-F238E27FC236}">
                <a16:creationId xmlns:a16="http://schemas.microsoft.com/office/drawing/2014/main" id="{DE086893-A382-EA70-FF20-ECD9349C474A}"/>
              </a:ext>
            </a:extLst>
          </p:cNvPr>
          <p:cNvPicPr>
            <a:picLocks noChangeAspect="1"/>
          </p:cNvPicPr>
          <p:nvPr/>
        </p:nvPicPr>
        <p:blipFill>
          <a:blip r:embed="rId2"/>
          <a:stretch>
            <a:fillRect/>
          </a:stretch>
        </p:blipFill>
        <p:spPr>
          <a:xfrm>
            <a:off x="242135" y="212741"/>
            <a:ext cx="774259" cy="737680"/>
          </a:xfrm>
          <a:prstGeom prst="rect">
            <a:avLst/>
          </a:prstGeom>
        </p:spPr>
      </p:pic>
      <p:pic>
        <p:nvPicPr>
          <p:cNvPr id="4" name="Picture 3">
            <a:extLst>
              <a:ext uri="{FF2B5EF4-FFF2-40B4-BE49-F238E27FC236}">
                <a16:creationId xmlns:a16="http://schemas.microsoft.com/office/drawing/2014/main" id="{D682ED7C-836F-5DC5-BC0B-121CBBE4A7AF}"/>
              </a:ext>
            </a:extLst>
          </p:cNvPr>
          <p:cNvPicPr>
            <a:picLocks noChangeAspect="1"/>
          </p:cNvPicPr>
          <p:nvPr/>
        </p:nvPicPr>
        <p:blipFill>
          <a:blip r:embed="rId3"/>
          <a:stretch>
            <a:fillRect/>
          </a:stretch>
        </p:blipFill>
        <p:spPr>
          <a:xfrm>
            <a:off x="7964389" y="212741"/>
            <a:ext cx="804742" cy="737680"/>
          </a:xfrm>
          <a:prstGeom prst="rect">
            <a:avLst/>
          </a:prstGeom>
        </p:spPr>
      </p:pic>
      <p:pic>
        <p:nvPicPr>
          <p:cNvPr id="6" name="Picture 5">
            <a:extLst>
              <a:ext uri="{FF2B5EF4-FFF2-40B4-BE49-F238E27FC236}">
                <a16:creationId xmlns:a16="http://schemas.microsoft.com/office/drawing/2014/main" id="{F2B749D7-7379-DDEE-D2FE-A9C691C29F8F}"/>
              </a:ext>
            </a:extLst>
          </p:cNvPr>
          <p:cNvPicPr>
            <a:picLocks noChangeAspect="1"/>
          </p:cNvPicPr>
          <p:nvPr/>
        </p:nvPicPr>
        <p:blipFill rotWithShape="1">
          <a:blip r:embed="rId4">
            <a:extLst>
              <a:ext uri="{28A0092B-C50C-407E-A947-70E740481C1C}">
                <a14:useLocalDpi xmlns:a14="http://schemas.microsoft.com/office/drawing/2010/main" val="0"/>
              </a:ext>
            </a:extLst>
          </a:blip>
          <a:srcRect l="1994" t="4504" r="8598" b="11911"/>
          <a:stretch>
            <a:fillRect/>
          </a:stretch>
        </p:blipFill>
        <p:spPr bwMode="auto">
          <a:xfrm>
            <a:off x="1800225" y="1547812"/>
            <a:ext cx="5543550" cy="376237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8305590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2CB09C3-60FC-33CD-9B47-ED14B5BA19E9}"/>
              </a:ext>
            </a:extLst>
          </p:cNvPr>
          <p:cNvPicPr>
            <a:picLocks noChangeAspect="1"/>
          </p:cNvPicPr>
          <p:nvPr/>
        </p:nvPicPr>
        <p:blipFill>
          <a:blip r:embed="rId2"/>
          <a:stretch>
            <a:fillRect/>
          </a:stretch>
        </p:blipFill>
        <p:spPr>
          <a:xfrm>
            <a:off x="296798" y="192734"/>
            <a:ext cx="774259" cy="737680"/>
          </a:xfrm>
          <a:prstGeom prst="rect">
            <a:avLst/>
          </a:prstGeom>
        </p:spPr>
      </p:pic>
      <p:pic>
        <p:nvPicPr>
          <p:cNvPr id="3" name="Picture 2">
            <a:extLst>
              <a:ext uri="{FF2B5EF4-FFF2-40B4-BE49-F238E27FC236}">
                <a16:creationId xmlns:a16="http://schemas.microsoft.com/office/drawing/2014/main" id="{1D12547D-12AB-B092-75A3-E523289CDED9}"/>
              </a:ext>
            </a:extLst>
          </p:cNvPr>
          <p:cNvPicPr>
            <a:picLocks noChangeAspect="1"/>
          </p:cNvPicPr>
          <p:nvPr/>
        </p:nvPicPr>
        <p:blipFill>
          <a:blip r:embed="rId3"/>
          <a:stretch>
            <a:fillRect/>
          </a:stretch>
        </p:blipFill>
        <p:spPr>
          <a:xfrm>
            <a:off x="8161525" y="252754"/>
            <a:ext cx="804742" cy="737680"/>
          </a:xfrm>
          <a:prstGeom prst="rect">
            <a:avLst/>
          </a:prstGeom>
        </p:spPr>
      </p:pic>
      <p:sp>
        <p:nvSpPr>
          <p:cNvPr id="4" name="TextBox 3">
            <a:extLst>
              <a:ext uri="{FF2B5EF4-FFF2-40B4-BE49-F238E27FC236}">
                <a16:creationId xmlns:a16="http://schemas.microsoft.com/office/drawing/2014/main" id="{3A84EFF4-E25A-99F2-20AE-2A5FAABAE01E}"/>
              </a:ext>
            </a:extLst>
          </p:cNvPr>
          <p:cNvSpPr txBox="1"/>
          <p:nvPr/>
        </p:nvSpPr>
        <p:spPr>
          <a:xfrm>
            <a:off x="3131573" y="121463"/>
            <a:ext cx="6858000" cy="830997"/>
          </a:xfrm>
          <a:prstGeom prst="rect">
            <a:avLst/>
          </a:prstGeom>
          <a:noFill/>
        </p:spPr>
        <p:txBody>
          <a:bodyPr wrap="square">
            <a:spAutoFit/>
          </a:bodyPr>
          <a:lstStyle/>
          <a:p>
            <a:r>
              <a:rPr lang="en-IN" sz="4800" b="1" dirty="0">
                <a:latin typeface="Times New Roman" panose="02020603050405020304" pitchFamily="18" charset="0"/>
                <a:cs typeface="Times New Roman" panose="02020603050405020304" pitchFamily="18" charset="0"/>
              </a:rPr>
              <a:t>OUTPUT</a:t>
            </a:r>
            <a:endParaRPr lang="en-IN" sz="4800" dirty="0"/>
          </a:p>
        </p:txBody>
      </p:sp>
      <p:pic>
        <p:nvPicPr>
          <p:cNvPr id="5" name="Picture 4">
            <a:extLst>
              <a:ext uri="{FF2B5EF4-FFF2-40B4-BE49-F238E27FC236}">
                <a16:creationId xmlns:a16="http://schemas.microsoft.com/office/drawing/2014/main" id="{6A08F4C2-2C71-16FA-594A-4F8D8B69A44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53534" y="990434"/>
            <a:ext cx="6084570" cy="2438566"/>
          </a:xfrm>
          <a:prstGeom prst="rect">
            <a:avLst/>
          </a:prstGeom>
        </p:spPr>
      </p:pic>
      <p:pic>
        <p:nvPicPr>
          <p:cNvPr id="6" name="Picture 5">
            <a:extLst>
              <a:ext uri="{FF2B5EF4-FFF2-40B4-BE49-F238E27FC236}">
                <a16:creationId xmlns:a16="http://schemas.microsoft.com/office/drawing/2014/main" id="{9BC422D4-3756-8244-6994-29A50465DED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304004" y="3821335"/>
            <a:ext cx="6134100" cy="2360010"/>
          </a:xfrm>
          <a:prstGeom prst="rect">
            <a:avLst/>
          </a:prstGeom>
        </p:spPr>
      </p:pic>
    </p:spTree>
    <p:extLst>
      <p:ext uri="{BB962C8B-B14F-4D97-AF65-F5344CB8AC3E}">
        <p14:creationId xmlns:p14="http://schemas.microsoft.com/office/powerpoint/2010/main" val="2668170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B79634A-EE1D-A305-2392-34665E9BE1D1}"/>
              </a:ext>
            </a:extLst>
          </p:cNvPr>
          <p:cNvPicPr>
            <a:picLocks noChangeAspect="1"/>
          </p:cNvPicPr>
          <p:nvPr/>
        </p:nvPicPr>
        <p:blipFill>
          <a:blip r:embed="rId2"/>
          <a:stretch>
            <a:fillRect/>
          </a:stretch>
        </p:blipFill>
        <p:spPr>
          <a:xfrm>
            <a:off x="361948" y="192734"/>
            <a:ext cx="774259" cy="737680"/>
          </a:xfrm>
          <a:prstGeom prst="rect">
            <a:avLst/>
          </a:prstGeom>
        </p:spPr>
      </p:pic>
      <p:sp>
        <p:nvSpPr>
          <p:cNvPr id="3" name="TextBox 2">
            <a:extLst>
              <a:ext uri="{FF2B5EF4-FFF2-40B4-BE49-F238E27FC236}">
                <a16:creationId xmlns:a16="http://schemas.microsoft.com/office/drawing/2014/main" id="{18C41812-967B-5136-360A-139B35FCB7B0}"/>
              </a:ext>
            </a:extLst>
          </p:cNvPr>
          <p:cNvSpPr txBox="1"/>
          <p:nvPr/>
        </p:nvSpPr>
        <p:spPr>
          <a:xfrm>
            <a:off x="2949480" y="159437"/>
            <a:ext cx="6858000" cy="830997"/>
          </a:xfrm>
          <a:prstGeom prst="rect">
            <a:avLst/>
          </a:prstGeom>
          <a:noFill/>
        </p:spPr>
        <p:txBody>
          <a:bodyPr wrap="square">
            <a:spAutoFit/>
          </a:bodyPr>
          <a:lstStyle/>
          <a:p>
            <a:r>
              <a:rPr lang="en-IN" sz="4800" b="1" dirty="0">
                <a:latin typeface="Times New Roman" panose="02020603050405020304" pitchFamily="18" charset="0"/>
                <a:cs typeface="Times New Roman" panose="02020603050405020304" pitchFamily="18" charset="0"/>
              </a:rPr>
              <a:t>OUTPUT</a:t>
            </a:r>
            <a:endParaRPr lang="en-IN" sz="4800" dirty="0"/>
          </a:p>
        </p:txBody>
      </p:sp>
      <p:pic>
        <p:nvPicPr>
          <p:cNvPr id="4" name="Picture 3">
            <a:extLst>
              <a:ext uri="{FF2B5EF4-FFF2-40B4-BE49-F238E27FC236}">
                <a16:creationId xmlns:a16="http://schemas.microsoft.com/office/drawing/2014/main" id="{180CE64B-55F1-0430-F3F1-7D7E6A5DD7D3}"/>
              </a:ext>
            </a:extLst>
          </p:cNvPr>
          <p:cNvPicPr>
            <a:picLocks noChangeAspect="1"/>
          </p:cNvPicPr>
          <p:nvPr/>
        </p:nvPicPr>
        <p:blipFill>
          <a:blip r:embed="rId3"/>
          <a:stretch>
            <a:fillRect/>
          </a:stretch>
        </p:blipFill>
        <p:spPr>
          <a:xfrm>
            <a:off x="8161525" y="252754"/>
            <a:ext cx="804742" cy="737680"/>
          </a:xfrm>
          <a:prstGeom prst="rect">
            <a:avLst/>
          </a:prstGeom>
        </p:spPr>
      </p:pic>
      <p:pic>
        <p:nvPicPr>
          <p:cNvPr id="5" name="Picture 4">
            <a:extLst>
              <a:ext uri="{FF2B5EF4-FFF2-40B4-BE49-F238E27FC236}">
                <a16:creationId xmlns:a16="http://schemas.microsoft.com/office/drawing/2014/main" id="{C4A37DCE-BDE3-D7B1-57BC-86938DDD9AF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52587" y="990435"/>
            <a:ext cx="5731510" cy="2337982"/>
          </a:xfrm>
          <a:prstGeom prst="rect">
            <a:avLst/>
          </a:prstGeom>
        </p:spPr>
      </p:pic>
      <p:pic>
        <p:nvPicPr>
          <p:cNvPr id="6" name="Picture 5">
            <a:extLst>
              <a:ext uri="{FF2B5EF4-FFF2-40B4-BE49-F238E27FC236}">
                <a16:creationId xmlns:a16="http://schemas.microsoft.com/office/drawing/2014/main" id="{57EB2C5B-7234-F87E-A81C-2792D32BCCB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52587" y="3678625"/>
            <a:ext cx="5838825" cy="2337982"/>
          </a:xfrm>
          <a:prstGeom prst="rect">
            <a:avLst/>
          </a:prstGeom>
        </p:spPr>
      </p:pic>
    </p:spTree>
    <p:extLst>
      <p:ext uri="{BB962C8B-B14F-4D97-AF65-F5344CB8AC3E}">
        <p14:creationId xmlns:p14="http://schemas.microsoft.com/office/powerpoint/2010/main" val="3760471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223E2AE-F0D8-37D6-5EA5-93CCA186007D}"/>
              </a:ext>
            </a:extLst>
          </p:cNvPr>
          <p:cNvPicPr>
            <a:picLocks noChangeAspect="1"/>
          </p:cNvPicPr>
          <p:nvPr/>
        </p:nvPicPr>
        <p:blipFill>
          <a:blip r:embed="rId2"/>
          <a:stretch>
            <a:fillRect/>
          </a:stretch>
        </p:blipFill>
        <p:spPr>
          <a:xfrm>
            <a:off x="361948" y="192734"/>
            <a:ext cx="774259" cy="737680"/>
          </a:xfrm>
          <a:prstGeom prst="rect">
            <a:avLst/>
          </a:prstGeom>
        </p:spPr>
      </p:pic>
      <p:sp>
        <p:nvSpPr>
          <p:cNvPr id="3" name="TextBox 2">
            <a:extLst>
              <a:ext uri="{FF2B5EF4-FFF2-40B4-BE49-F238E27FC236}">
                <a16:creationId xmlns:a16="http://schemas.microsoft.com/office/drawing/2014/main" id="{44E63A89-C1EE-5404-6B1E-214BBA2B9345}"/>
              </a:ext>
            </a:extLst>
          </p:cNvPr>
          <p:cNvSpPr txBox="1"/>
          <p:nvPr/>
        </p:nvSpPr>
        <p:spPr>
          <a:xfrm>
            <a:off x="2949480" y="159437"/>
            <a:ext cx="6858000" cy="830997"/>
          </a:xfrm>
          <a:prstGeom prst="rect">
            <a:avLst/>
          </a:prstGeom>
          <a:noFill/>
        </p:spPr>
        <p:txBody>
          <a:bodyPr wrap="square">
            <a:spAutoFit/>
          </a:bodyPr>
          <a:lstStyle/>
          <a:p>
            <a:r>
              <a:rPr lang="en-IN" sz="4800" b="1" dirty="0">
                <a:latin typeface="Times New Roman" panose="02020603050405020304" pitchFamily="18" charset="0"/>
                <a:cs typeface="Times New Roman" panose="02020603050405020304" pitchFamily="18" charset="0"/>
              </a:rPr>
              <a:t>OUTPUT</a:t>
            </a:r>
            <a:endParaRPr lang="en-IN" sz="4800" dirty="0"/>
          </a:p>
        </p:txBody>
      </p:sp>
      <p:pic>
        <p:nvPicPr>
          <p:cNvPr id="4" name="Picture 3">
            <a:extLst>
              <a:ext uri="{FF2B5EF4-FFF2-40B4-BE49-F238E27FC236}">
                <a16:creationId xmlns:a16="http://schemas.microsoft.com/office/drawing/2014/main" id="{DD365122-62F0-BBE9-1CC9-AFCB7CEE17F5}"/>
              </a:ext>
            </a:extLst>
          </p:cNvPr>
          <p:cNvPicPr>
            <a:picLocks noChangeAspect="1"/>
          </p:cNvPicPr>
          <p:nvPr/>
        </p:nvPicPr>
        <p:blipFill>
          <a:blip r:embed="rId3"/>
          <a:stretch>
            <a:fillRect/>
          </a:stretch>
        </p:blipFill>
        <p:spPr>
          <a:xfrm>
            <a:off x="8161525" y="252754"/>
            <a:ext cx="804742" cy="737680"/>
          </a:xfrm>
          <a:prstGeom prst="rect">
            <a:avLst/>
          </a:prstGeom>
        </p:spPr>
      </p:pic>
      <p:pic>
        <p:nvPicPr>
          <p:cNvPr id="5" name="Picture 4">
            <a:extLst>
              <a:ext uri="{FF2B5EF4-FFF2-40B4-BE49-F238E27FC236}">
                <a16:creationId xmlns:a16="http://schemas.microsoft.com/office/drawing/2014/main" id="{7CB1C501-24DC-7C75-248F-626E5DF8FF5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79397" y="990434"/>
            <a:ext cx="5731510" cy="2203870"/>
          </a:xfrm>
          <a:prstGeom prst="rect">
            <a:avLst/>
          </a:prstGeom>
        </p:spPr>
      </p:pic>
      <p:pic>
        <p:nvPicPr>
          <p:cNvPr id="6" name="Picture 5">
            <a:extLst>
              <a:ext uri="{FF2B5EF4-FFF2-40B4-BE49-F238E27FC236}">
                <a16:creationId xmlns:a16="http://schemas.microsoft.com/office/drawing/2014/main" id="{C6606FBC-393D-594B-1A0A-BF6C80DCC73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706245" y="3750922"/>
            <a:ext cx="5731510" cy="2328862"/>
          </a:xfrm>
          <a:prstGeom prst="rect">
            <a:avLst/>
          </a:prstGeom>
        </p:spPr>
      </p:pic>
    </p:spTree>
    <p:extLst>
      <p:ext uri="{BB962C8B-B14F-4D97-AF65-F5344CB8AC3E}">
        <p14:creationId xmlns:p14="http://schemas.microsoft.com/office/powerpoint/2010/main" val="15300328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48149" y="2304998"/>
            <a:ext cx="7772400" cy="1470025"/>
          </a:xfrm>
        </p:spPr>
        <p:txBody>
          <a:bodyPr>
            <a:normAutofit/>
          </a:bodyPr>
          <a:lstStyle/>
          <a:p>
            <a:pPr algn="ctr"/>
            <a:r>
              <a:rPr lang="en-IN" sz="6000" b="1" dirty="0">
                <a:latin typeface="Times New Roman" panose="02020603050405020304" pitchFamily="18" charset="0"/>
                <a:cs typeface="Times New Roman" panose="02020603050405020304" pitchFamily="18" charset="0"/>
              </a:rPr>
              <a:t>THANK YOU</a:t>
            </a:r>
            <a:endParaRPr sz="6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CFBB629-6BC1-13C7-D327-713DFA77A1F4}"/>
              </a:ext>
            </a:extLst>
          </p:cNvPr>
          <p:cNvPicPr>
            <a:picLocks noChangeAspect="1"/>
          </p:cNvPicPr>
          <p:nvPr/>
        </p:nvPicPr>
        <p:blipFill>
          <a:blip r:embed="rId2"/>
          <a:stretch>
            <a:fillRect/>
          </a:stretch>
        </p:blipFill>
        <p:spPr>
          <a:xfrm>
            <a:off x="389618" y="277631"/>
            <a:ext cx="774259" cy="737680"/>
          </a:xfrm>
          <a:prstGeom prst="rect">
            <a:avLst/>
          </a:prstGeom>
        </p:spPr>
      </p:pic>
      <p:pic>
        <p:nvPicPr>
          <p:cNvPr id="5" name="Picture 4">
            <a:extLst>
              <a:ext uri="{FF2B5EF4-FFF2-40B4-BE49-F238E27FC236}">
                <a16:creationId xmlns:a16="http://schemas.microsoft.com/office/drawing/2014/main" id="{6661A3BE-487E-CE5E-F82A-7D61780DA7A2}"/>
              </a:ext>
            </a:extLst>
          </p:cNvPr>
          <p:cNvPicPr>
            <a:picLocks noChangeAspect="1"/>
          </p:cNvPicPr>
          <p:nvPr/>
        </p:nvPicPr>
        <p:blipFill>
          <a:blip r:embed="rId3"/>
          <a:stretch>
            <a:fillRect/>
          </a:stretch>
        </p:blipFill>
        <p:spPr>
          <a:xfrm>
            <a:off x="7787900" y="334166"/>
            <a:ext cx="804742" cy="737680"/>
          </a:xfrm>
          <a:prstGeom prst="rect">
            <a:avLst/>
          </a:prstGeom>
        </p:spPr>
      </p:pic>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224</TotalTime>
  <Words>552</Words>
  <Application>Microsoft Office PowerPoint</Application>
  <PresentationFormat>On-screen Show (4:3)</PresentationFormat>
  <Paragraphs>55</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Times New Roman</vt:lpstr>
      <vt:lpstr>Wingdings</vt:lpstr>
      <vt:lpstr>Retrospect</vt:lpstr>
      <vt:lpstr>K.RAMAKRISHNAN COLLEGE OF TECHNOLOGY  ONLINE WORKSHOP REGISTRATION AND ATTENDANCE SYSTEM</vt:lpstr>
      <vt:lpstr>ABSTRACT</vt:lpstr>
      <vt:lpstr>INTRODUCTION</vt:lpstr>
      <vt:lpstr>PowerPoint Presentation</vt:lpstr>
      <vt:lpstr>PROPOSED SYSTEM</vt:lpstr>
      <vt:lpstr>MODULES</vt:lpstr>
      <vt:lpstr>MODULES DESCRIPTION</vt:lpstr>
      <vt:lpstr>PowerPoint Presentation</vt:lpstr>
      <vt:lpstr>FLOW DIAGRAM</vt:lpstr>
      <vt:lpstr>USE CASE DIAGRAM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SRI VARSHINI</dc:creator>
  <cp:keywords/>
  <dc:description>generated using python-pptx</dc:description>
  <cp:lastModifiedBy>SRI VARSHINI</cp:lastModifiedBy>
  <cp:revision>7</cp:revision>
  <dcterms:created xsi:type="dcterms:W3CDTF">2013-01-27T09:14:16Z</dcterms:created>
  <dcterms:modified xsi:type="dcterms:W3CDTF">2025-12-17T14:28:20Z</dcterms:modified>
  <cp:category/>
</cp:coreProperties>
</file>